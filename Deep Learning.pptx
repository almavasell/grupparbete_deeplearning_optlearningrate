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9" r:id="rId3"/>
    <p:sldId id="260" r:id="rId4"/>
    <p:sldId id="257" r:id="rId5"/>
    <p:sldId id="258" r:id="rId6"/>
    <p:sldId id="259" r:id="rId7"/>
    <p:sldId id="261" r:id="rId8"/>
    <p:sldId id="262" r:id="rId9"/>
    <p:sldId id="279" r:id="rId10"/>
    <p:sldId id="280" r:id="rId11"/>
    <p:sldId id="270" r:id="rId12"/>
    <p:sldId id="271" r:id="rId13"/>
    <p:sldId id="272" r:id="rId14"/>
    <p:sldId id="281" r:id="rId15"/>
    <p:sldId id="273" r:id="rId16"/>
    <p:sldId id="274" r:id="rId17"/>
    <p:sldId id="275" r:id="rId18"/>
    <p:sldId id="282" r:id="rId19"/>
    <p:sldId id="276" r:id="rId20"/>
    <p:sldId id="277" r:id="rId21"/>
    <p:sldId id="283" r:id="rId22"/>
    <p:sldId id="266" r:id="rId23"/>
    <p:sldId id="268" r:id="rId2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172"/>
    <a:srgbClr val="E0DCCC"/>
    <a:srgbClr val="F5F2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4" autoAdjust="0"/>
  </p:normalViewPr>
  <p:slideViewPr>
    <p:cSldViewPr snapToGrid="0">
      <p:cViewPr>
        <p:scale>
          <a:sx n="67" d="100"/>
          <a:sy n="67" d="100"/>
        </p:scale>
        <p:origin x="6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060F3F-1A23-46F5-8805-B24267792531}" type="doc">
      <dgm:prSet loTypeId="urn:microsoft.com/office/officeart/2005/8/layout/bProcess3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E1B964F-A18F-4AC0-903F-C9D2B16D9B0F}">
      <dgm:prSet/>
      <dgm:spPr/>
      <dgm:t>
        <a:bodyPr/>
        <a:lstStyle/>
        <a:p>
          <a:pPr rtl="0"/>
          <a:r>
            <a:rPr lang="sv-SE"/>
            <a:t>FashionMNIST användes som dataset 28x28 pixlar gråskalebilder av klädesplagg.</a:t>
          </a:r>
          <a:endParaRPr lang="sv-SE">
            <a:latin typeface="Aptos Display" panose="02110004020202020204"/>
          </a:endParaRPr>
        </a:p>
      </dgm:t>
    </dgm:pt>
    <dgm:pt modelId="{2E8E10B8-5500-4C1E-8C15-95BFF9C3711F}" type="parTrans" cxnId="{AAF2361F-2AB2-439A-B512-C370242C475B}">
      <dgm:prSet/>
      <dgm:spPr/>
      <dgm:t>
        <a:bodyPr/>
        <a:lstStyle/>
        <a:p>
          <a:endParaRPr lang="en-US"/>
        </a:p>
      </dgm:t>
    </dgm:pt>
    <dgm:pt modelId="{D4FC3655-5762-4D92-9D9D-B905452865F1}" type="sibTrans" cxnId="{AAF2361F-2AB2-439A-B512-C370242C475B}">
      <dgm:prSet/>
      <dgm:spPr/>
      <dgm:t>
        <a:bodyPr/>
        <a:lstStyle/>
        <a:p>
          <a:endParaRPr lang="en-US"/>
        </a:p>
      </dgm:t>
    </dgm:pt>
    <dgm:pt modelId="{96BFD93A-0394-41A1-B045-3A5B47AC585C}">
      <dgm:prSet/>
      <dgm:spPr/>
      <dgm:t>
        <a:bodyPr/>
        <a:lstStyle/>
        <a:p>
          <a:r>
            <a:rPr lang="sv-SE"/>
            <a:t>En enkel CNN-basmodell byggdes för att identifiera mönster i bilddata.</a:t>
          </a:r>
        </a:p>
      </dgm:t>
    </dgm:pt>
    <dgm:pt modelId="{584B9D72-C1C4-420A-A850-B9BA69F86506}" type="parTrans" cxnId="{258F43DB-5BF1-49DC-A9D4-F7F13AE65CFF}">
      <dgm:prSet/>
      <dgm:spPr/>
      <dgm:t>
        <a:bodyPr/>
        <a:lstStyle/>
        <a:p>
          <a:endParaRPr lang="en-US"/>
        </a:p>
      </dgm:t>
    </dgm:pt>
    <dgm:pt modelId="{0707954A-F96F-421C-B5FA-D9912BC7CA34}" type="sibTrans" cxnId="{258F43DB-5BF1-49DC-A9D4-F7F13AE65CFF}">
      <dgm:prSet/>
      <dgm:spPr/>
      <dgm:t>
        <a:bodyPr/>
        <a:lstStyle/>
        <a:p>
          <a:endParaRPr lang="en-US"/>
        </a:p>
      </dgm:t>
    </dgm:pt>
    <dgm:pt modelId="{D4520359-460D-4C0F-A290-E16280515626}">
      <dgm:prSet/>
      <dgm:spPr/>
      <dgm:t>
        <a:bodyPr/>
        <a:lstStyle/>
        <a:p>
          <a:r>
            <a:rPr lang="sv-SE"/>
            <a:t>Convolution-lager användes för att upptäcka viktiga detaljer och former i bilderna.</a:t>
          </a:r>
        </a:p>
      </dgm:t>
    </dgm:pt>
    <dgm:pt modelId="{2E8A59D8-347E-4545-830C-C3E45C567053}" type="parTrans" cxnId="{405E7A59-125C-425B-BFAC-58163AFF9CF6}">
      <dgm:prSet/>
      <dgm:spPr/>
      <dgm:t>
        <a:bodyPr/>
        <a:lstStyle/>
        <a:p>
          <a:endParaRPr lang="en-US"/>
        </a:p>
      </dgm:t>
    </dgm:pt>
    <dgm:pt modelId="{4F5E820A-DAE1-495A-B29A-CEB378087854}" type="sibTrans" cxnId="{405E7A59-125C-425B-BFAC-58163AFF9CF6}">
      <dgm:prSet/>
      <dgm:spPr/>
      <dgm:t>
        <a:bodyPr/>
        <a:lstStyle/>
        <a:p>
          <a:endParaRPr lang="en-US"/>
        </a:p>
      </dgm:t>
    </dgm:pt>
    <dgm:pt modelId="{A0B0A12B-086A-4371-9894-811B3E353E4F}">
      <dgm:prSet/>
      <dgm:spPr/>
      <dgm:t>
        <a:bodyPr/>
        <a:lstStyle/>
        <a:p>
          <a:r>
            <a:rPr lang="sv-SE"/>
            <a:t>MaxPooling minskade datamängden och gjorde modellen mer effektiv.</a:t>
          </a:r>
        </a:p>
      </dgm:t>
    </dgm:pt>
    <dgm:pt modelId="{5DD4F8E5-CBEE-479B-83B0-29289EA44D1D}" type="parTrans" cxnId="{D30C6D4E-0841-46DF-B391-69D396032C22}">
      <dgm:prSet/>
      <dgm:spPr/>
      <dgm:t>
        <a:bodyPr/>
        <a:lstStyle/>
        <a:p>
          <a:endParaRPr lang="en-US"/>
        </a:p>
      </dgm:t>
    </dgm:pt>
    <dgm:pt modelId="{1848B4E0-F504-4A78-B930-F4ED297AA2FD}" type="sibTrans" cxnId="{D30C6D4E-0841-46DF-B391-69D396032C22}">
      <dgm:prSet/>
      <dgm:spPr/>
      <dgm:t>
        <a:bodyPr/>
        <a:lstStyle/>
        <a:p>
          <a:endParaRPr lang="en-US"/>
        </a:p>
      </dgm:t>
    </dgm:pt>
    <dgm:pt modelId="{2C821EDB-D051-45C3-9EEA-FC71CF4ED6E1}">
      <dgm:prSet/>
      <dgm:spPr/>
      <dgm:t>
        <a:bodyPr/>
        <a:lstStyle/>
        <a:p>
          <a:r>
            <a:rPr lang="sv-SE"/>
            <a:t>Dense-lager användes för att klassificera bilderna i 10 olika klasser.</a:t>
          </a:r>
        </a:p>
      </dgm:t>
    </dgm:pt>
    <dgm:pt modelId="{621736D8-E477-4FD6-8475-685EBFFEC49E}" type="parTrans" cxnId="{AB3469D3-F550-494B-A50B-D95480E21025}">
      <dgm:prSet/>
      <dgm:spPr/>
      <dgm:t>
        <a:bodyPr/>
        <a:lstStyle/>
        <a:p>
          <a:endParaRPr lang="en-US"/>
        </a:p>
      </dgm:t>
    </dgm:pt>
    <dgm:pt modelId="{06C78B69-AA96-469F-A0DE-1B88371B2A38}" type="sibTrans" cxnId="{AB3469D3-F550-494B-A50B-D95480E21025}">
      <dgm:prSet/>
      <dgm:spPr/>
      <dgm:t>
        <a:bodyPr/>
        <a:lstStyle/>
        <a:p>
          <a:endParaRPr lang="en-US"/>
        </a:p>
      </dgm:t>
    </dgm:pt>
    <dgm:pt modelId="{0B70356A-0791-411A-AFB9-1C24FAAE3B8D}">
      <dgm:prSet phldrT="[Text]" phldr="0"/>
      <dgm:spPr/>
      <dgm:t>
        <a:bodyPr/>
        <a:lstStyle/>
        <a:p>
          <a:pPr rtl="0"/>
          <a:r>
            <a:rPr lang="sv-SE">
              <a:latin typeface="Aptos Display" panose="02110004020202020204"/>
            </a:rPr>
            <a:t> </a:t>
          </a:r>
        </a:p>
      </dgm:t>
    </dgm:pt>
    <dgm:pt modelId="{DE6447FD-9883-4358-BAEC-D65B9B2DAC1C}" type="parTrans" cxnId="{ECA7BFCB-8427-43C8-8167-4EF610D1758F}">
      <dgm:prSet/>
      <dgm:spPr/>
    </dgm:pt>
    <dgm:pt modelId="{362431EC-05EB-4B3D-93C0-33D2A5EAAEB9}" type="sibTrans" cxnId="{ECA7BFCB-8427-43C8-8167-4EF610D1758F}">
      <dgm:prSet/>
      <dgm:spPr/>
      <dgm:t>
        <a:bodyPr/>
        <a:lstStyle/>
        <a:p>
          <a:endParaRPr lang="en-US"/>
        </a:p>
      </dgm:t>
    </dgm:pt>
    <dgm:pt modelId="{451DD89A-4748-40F7-923F-1D7420A23927}" type="pres">
      <dgm:prSet presAssocID="{8C060F3F-1A23-46F5-8805-B24267792531}" presName="Name0" presStyleCnt="0">
        <dgm:presLayoutVars>
          <dgm:dir/>
          <dgm:resizeHandles val="exact"/>
        </dgm:presLayoutVars>
      </dgm:prSet>
      <dgm:spPr/>
    </dgm:pt>
    <dgm:pt modelId="{C8753693-303B-46DB-8831-3010E61DC997}" type="pres">
      <dgm:prSet presAssocID="{DE1B964F-A18F-4AC0-903F-C9D2B16D9B0F}" presName="node" presStyleLbl="node1" presStyleIdx="0" presStyleCnt="6">
        <dgm:presLayoutVars>
          <dgm:bulletEnabled val="1"/>
        </dgm:presLayoutVars>
      </dgm:prSet>
      <dgm:spPr/>
    </dgm:pt>
    <dgm:pt modelId="{1B1A244B-3F1C-47D1-88AD-98C3DC93332F}" type="pres">
      <dgm:prSet presAssocID="{D4FC3655-5762-4D92-9D9D-B905452865F1}" presName="sibTrans" presStyleLbl="sibTrans1D1" presStyleIdx="0" presStyleCnt="5"/>
      <dgm:spPr/>
    </dgm:pt>
    <dgm:pt modelId="{8380138B-A8E9-4205-80E4-121DB3DEEC7B}" type="pres">
      <dgm:prSet presAssocID="{D4FC3655-5762-4D92-9D9D-B905452865F1}" presName="connectorText" presStyleLbl="sibTrans1D1" presStyleIdx="0" presStyleCnt="5"/>
      <dgm:spPr/>
    </dgm:pt>
    <dgm:pt modelId="{DB0A9C9F-96CB-4824-BFFB-70342813A929}" type="pres">
      <dgm:prSet presAssocID="{0B70356A-0791-411A-AFB9-1C24FAAE3B8D}" presName="node" presStyleLbl="node1" presStyleIdx="1" presStyleCnt="6">
        <dgm:presLayoutVars>
          <dgm:bulletEnabled val="1"/>
        </dgm:presLayoutVars>
      </dgm:prSet>
      <dgm:spPr/>
    </dgm:pt>
    <dgm:pt modelId="{5FE69C94-A609-4AB7-9FC6-64818E2263D8}" type="pres">
      <dgm:prSet presAssocID="{362431EC-05EB-4B3D-93C0-33D2A5EAAEB9}" presName="sibTrans" presStyleLbl="sibTrans1D1" presStyleIdx="1" presStyleCnt="5"/>
      <dgm:spPr/>
    </dgm:pt>
    <dgm:pt modelId="{F544AA27-8BBC-4330-8A2A-8745DEEFB3CC}" type="pres">
      <dgm:prSet presAssocID="{362431EC-05EB-4B3D-93C0-33D2A5EAAEB9}" presName="connectorText" presStyleLbl="sibTrans1D1" presStyleIdx="1" presStyleCnt="5"/>
      <dgm:spPr/>
    </dgm:pt>
    <dgm:pt modelId="{0476A75A-7FF2-4E18-9EE8-B997D8E342BA}" type="pres">
      <dgm:prSet presAssocID="{96BFD93A-0394-41A1-B045-3A5B47AC585C}" presName="node" presStyleLbl="node1" presStyleIdx="2" presStyleCnt="6">
        <dgm:presLayoutVars>
          <dgm:bulletEnabled val="1"/>
        </dgm:presLayoutVars>
      </dgm:prSet>
      <dgm:spPr/>
    </dgm:pt>
    <dgm:pt modelId="{68E38CAE-5A67-4796-8CF2-21B70B3D6F37}" type="pres">
      <dgm:prSet presAssocID="{0707954A-F96F-421C-B5FA-D9912BC7CA34}" presName="sibTrans" presStyleLbl="sibTrans1D1" presStyleIdx="2" presStyleCnt="5"/>
      <dgm:spPr/>
    </dgm:pt>
    <dgm:pt modelId="{6891FBA6-6D84-4761-BAC5-98C38FB2AD39}" type="pres">
      <dgm:prSet presAssocID="{0707954A-F96F-421C-B5FA-D9912BC7CA34}" presName="connectorText" presStyleLbl="sibTrans1D1" presStyleIdx="2" presStyleCnt="5"/>
      <dgm:spPr/>
    </dgm:pt>
    <dgm:pt modelId="{1140CFB6-B632-497C-B64D-1228DDB66906}" type="pres">
      <dgm:prSet presAssocID="{D4520359-460D-4C0F-A290-E16280515626}" presName="node" presStyleLbl="node1" presStyleIdx="3" presStyleCnt="6">
        <dgm:presLayoutVars>
          <dgm:bulletEnabled val="1"/>
        </dgm:presLayoutVars>
      </dgm:prSet>
      <dgm:spPr/>
    </dgm:pt>
    <dgm:pt modelId="{7E6917EC-D16D-4265-8EE0-6515B1BA67BC}" type="pres">
      <dgm:prSet presAssocID="{4F5E820A-DAE1-495A-B29A-CEB378087854}" presName="sibTrans" presStyleLbl="sibTrans1D1" presStyleIdx="3" presStyleCnt="5"/>
      <dgm:spPr/>
    </dgm:pt>
    <dgm:pt modelId="{101F1DED-07B6-4EDF-ADF7-54C239ACFC40}" type="pres">
      <dgm:prSet presAssocID="{4F5E820A-DAE1-495A-B29A-CEB378087854}" presName="connectorText" presStyleLbl="sibTrans1D1" presStyleIdx="3" presStyleCnt="5"/>
      <dgm:spPr/>
    </dgm:pt>
    <dgm:pt modelId="{B0518294-8248-4ADB-BE05-DCE21CEBBC8E}" type="pres">
      <dgm:prSet presAssocID="{A0B0A12B-086A-4371-9894-811B3E353E4F}" presName="node" presStyleLbl="node1" presStyleIdx="4" presStyleCnt="6">
        <dgm:presLayoutVars>
          <dgm:bulletEnabled val="1"/>
        </dgm:presLayoutVars>
      </dgm:prSet>
      <dgm:spPr/>
    </dgm:pt>
    <dgm:pt modelId="{959A22A0-094C-4857-B898-E8A47C17194D}" type="pres">
      <dgm:prSet presAssocID="{1848B4E0-F504-4A78-B930-F4ED297AA2FD}" presName="sibTrans" presStyleLbl="sibTrans1D1" presStyleIdx="4" presStyleCnt="5"/>
      <dgm:spPr/>
    </dgm:pt>
    <dgm:pt modelId="{C5DAB51F-CDE5-4E5E-B247-384F722B9836}" type="pres">
      <dgm:prSet presAssocID="{1848B4E0-F504-4A78-B930-F4ED297AA2FD}" presName="connectorText" presStyleLbl="sibTrans1D1" presStyleIdx="4" presStyleCnt="5"/>
      <dgm:spPr/>
    </dgm:pt>
    <dgm:pt modelId="{27B6008B-5C2F-4F85-93CC-3545DBDCEB3B}" type="pres">
      <dgm:prSet presAssocID="{2C821EDB-D051-45C3-9EEA-FC71CF4ED6E1}" presName="node" presStyleLbl="node1" presStyleIdx="5" presStyleCnt="6">
        <dgm:presLayoutVars>
          <dgm:bulletEnabled val="1"/>
        </dgm:presLayoutVars>
      </dgm:prSet>
      <dgm:spPr/>
    </dgm:pt>
  </dgm:ptLst>
  <dgm:cxnLst>
    <dgm:cxn modelId="{AAF2361F-2AB2-439A-B512-C370242C475B}" srcId="{8C060F3F-1A23-46F5-8805-B24267792531}" destId="{DE1B964F-A18F-4AC0-903F-C9D2B16D9B0F}" srcOrd="0" destOrd="0" parTransId="{2E8E10B8-5500-4C1E-8C15-95BFF9C3711F}" sibTransId="{D4FC3655-5762-4D92-9D9D-B905452865F1}"/>
    <dgm:cxn modelId="{92C56A31-E359-48DC-83C2-FDC9547C08E6}" type="presOf" srcId="{D4FC3655-5762-4D92-9D9D-B905452865F1}" destId="{1B1A244B-3F1C-47D1-88AD-98C3DC93332F}" srcOrd="0" destOrd="0" presId="urn:microsoft.com/office/officeart/2005/8/layout/bProcess3"/>
    <dgm:cxn modelId="{61F5F066-64B1-4AB8-B773-BA3D0AC0A7DA}" type="presOf" srcId="{362431EC-05EB-4B3D-93C0-33D2A5EAAEB9}" destId="{5FE69C94-A609-4AB7-9FC6-64818E2263D8}" srcOrd="0" destOrd="0" presId="urn:microsoft.com/office/officeart/2005/8/layout/bProcess3"/>
    <dgm:cxn modelId="{D30C6D4E-0841-46DF-B391-69D396032C22}" srcId="{8C060F3F-1A23-46F5-8805-B24267792531}" destId="{A0B0A12B-086A-4371-9894-811B3E353E4F}" srcOrd="4" destOrd="0" parTransId="{5DD4F8E5-CBEE-479B-83B0-29289EA44D1D}" sibTransId="{1848B4E0-F504-4A78-B930-F4ED297AA2FD}"/>
    <dgm:cxn modelId="{D2E33F79-5689-44CF-87C4-85AA66586FE9}" type="presOf" srcId="{DE1B964F-A18F-4AC0-903F-C9D2B16D9B0F}" destId="{C8753693-303B-46DB-8831-3010E61DC997}" srcOrd="0" destOrd="0" presId="urn:microsoft.com/office/officeart/2005/8/layout/bProcess3"/>
    <dgm:cxn modelId="{405E7A59-125C-425B-BFAC-58163AFF9CF6}" srcId="{8C060F3F-1A23-46F5-8805-B24267792531}" destId="{D4520359-460D-4C0F-A290-E16280515626}" srcOrd="3" destOrd="0" parTransId="{2E8A59D8-347E-4545-830C-C3E45C567053}" sibTransId="{4F5E820A-DAE1-495A-B29A-CEB378087854}"/>
    <dgm:cxn modelId="{6CE8B880-EA53-4835-A9F3-8B29D6AF10B5}" type="presOf" srcId="{1848B4E0-F504-4A78-B930-F4ED297AA2FD}" destId="{959A22A0-094C-4857-B898-E8A47C17194D}" srcOrd="0" destOrd="0" presId="urn:microsoft.com/office/officeart/2005/8/layout/bProcess3"/>
    <dgm:cxn modelId="{7DDBF381-B6C6-4BC5-815F-015EBEE257F9}" type="presOf" srcId="{8C060F3F-1A23-46F5-8805-B24267792531}" destId="{451DD89A-4748-40F7-923F-1D7420A23927}" srcOrd="0" destOrd="0" presId="urn:microsoft.com/office/officeart/2005/8/layout/bProcess3"/>
    <dgm:cxn modelId="{70ABFA83-79A4-4196-8A9C-41B3A34E63EB}" type="presOf" srcId="{A0B0A12B-086A-4371-9894-811B3E353E4F}" destId="{B0518294-8248-4ADB-BE05-DCE21CEBBC8E}" srcOrd="0" destOrd="0" presId="urn:microsoft.com/office/officeart/2005/8/layout/bProcess3"/>
    <dgm:cxn modelId="{61B8ED84-70F7-4481-ABC6-AD1A8102CB87}" type="presOf" srcId="{2C821EDB-D051-45C3-9EEA-FC71CF4ED6E1}" destId="{27B6008B-5C2F-4F85-93CC-3545DBDCEB3B}" srcOrd="0" destOrd="0" presId="urn:microsoft.com/office/officeart/2005/8/layout/bProcess3"/>
    <dgm:cxn modelId="{B8D0D38C-DF6A-4AD8-BD56-C648E71FEC81}" type="presOf" srcId="{4F5E820A-DAE1-495A-B29A-CEB378087854}" destId="{101F1DED-07B6-4EDF-ADF7-54C239ACFC40}" srcOrd="1" destOrd="0" presId="urn:microsoft.com/office/officeart/2005/8/layout/bProcess3"/>
    <dgm:cxn modelId="{E2615297-A3E5-4D18-9068-90004E246E07}" type="presOf" srcId="{0707954A-F96F-421C-B5FA-D9912BC7CA34}" destId="{68E38CAE-5A67-4796-8CF2-21B70B3D6F37}" srcOrd="0" destOrd="0" presId="urn:microsoft.com/office/officeart/2005/8/layout/bProcess3"/>
    <dgm:cxn modelId="{1D384F9C-7827-4425-AE32-4108C3963DCE}" type="presOf" srcId="{0B70356A-0791-411A-AFB9-1C24FAAE3B8D}" destId="{DB0A9C9F-96CB-4824-BFFB-70342813A929}" srcOrd="0" destOrd="0" presId="urn:microsoft.com/office/officeart/2005/8/layout/bProcess3"/>
    <dgm:cxn modelId="{6C0C29A3-E976-42E2-97C1-40C833B58274}" type="presOf" srcId="{96BFD93A-0394-41A1-B045-3A5B47AC585C}" destId="{0476A75A-7FF2-4E18-9EE8-B997D8E342BA}" srcOrd="0" destOrd="0" presId="urn:microsoft.com/office/officeart/2005/8/layout/bProcess3"/>
    <dgm:cxn modelId="{F25EC0A7-91E8-490D-86FE-A77A539FC74C}" type="presOf" srcId="{4F5E820A-DAE1-495A-B29A-CEB378087854}" destId="{7E6917EC-D16D-4265-8EE0-6515B1BA67BC}" srcOrd="0" destOrd="0" presId="urn:microsoft.com/office/officeart/2005/8/layout/bProcess3"/>
    <dgm:cxn modelId="{BFD11EB2-F2AA-4B51-823F-BFB48D854AE5}" type="presOf" srcId="{D4520359-460D-4C0F-A290-E16280515626}" destId="{1140CFB6-B632-497C-B64D-1228DDB66906}" srcOrd="0" destOrd="0" presId="urn:microsoft.com/office/officeart/2005/8/layout/bProcess3"/>
    <dgm:cxn modelId="{ECA7BFCB-8427-43C8-8167-4EF610D1758F}" srcId="{8C060F3F-1A23-46F5-8805-B24267792531}" destId="{0B70356A-0791-411A-AFB9-1C24FAAE3B8D}" srcOrd="1" destOrd="0" parTransId="{DE6447FD-9883-4358-BAEC-D65B9B2DAC1C}" sibTransId="{362431EC-05EB-4B3D-93C0-33D2A5EAAEB9}"/>
    <dgm:cxn modelId="{AB3469D3-F550-494B-A50B-D95480E21025}" srcId="{8C060F3F-1A23-46F5-8805-B24267792531}" destId="{2C821EDB-D051-45C3-9EEA-FC71CF4ED6E1}" srcOrd="5" destOrd="0" parTransId="{621736D8-E477-4FD6-8475-685EBFFEC49E}" sibTransId="{06C78B69-AA96-469F-A0DE-1B88371B2A38}"/>
    <dgm:cxn modelId="{258F43DB-5BF1-49DC-A9D4-F7F13AE65CFF}" srcId="{8C060F3F-1A23-46F5-8805-B24267792531}" destId="{96BFD93A-0394-41A1-B045-3A5B47AC585C}" srcOrd="2" destOrd="0" parTransId="{584B9D72-C1C4-420A-A850-B9BA69F86506}" sibTransId="{0707954A-F96F-421C-B5FA-D9912BC7CA34}"/>
    <dgm:cxn modelId="{510132E5-B671-4535-A28A-AF97A2DB32CF}" type="presOf" srcId="{D4FC3655-5762-4D92-9D9D-B905452865F1}" destId="{8380138B-A8E9-4205-80E4-121DB3DEEC7B}" srcOrd="1" destOrd="0" presId="urn:microsoft.com/office/officeart/2005/8/layout/bProcess3"/>
    <dgm:cxn modelId="{AFC78FEC-5061-4EA2-ABFE-3C4EBDBBA516}" type="presOf" srcId="{0707954A-F96F-421C-B5FA-D9912BC7CA34}" destId="{6891FBA6-6D84-4761-BAC5-98C38FB2AD39}" srcOrd="1" destOrd="0" presId="urn:microsoft.com/office/officeart/2005/8/layout/bProcess3"/>
    <dgm:cxn modelId="{353F71F0-D4FF-406B-A55C-4097655438F0}" type="presOf" srcId="{362431EC-05EB-4B3D-93C0-33D2A5EAAEB9}" destId="{F544AA27-8BBC-4330-8A2A-8745DEEFB3CC}" srcOrd="1" destOrd="0" presId="urn:microsoft.com/office/officeart/2005/8/layout/bProcess3"/>
    <dgm:cxn modelId="{975973F5-E43F-4CF6-AB44-0594A14298D7}" type="presOf" srcId="{1848B4E0-F504-4A78-B930-F4ED297AA2FD}" destId="{C5DAB51F-CDE5-4E5E-B247-384F722B9836}" srcOrd="1" destOrd="0" presId="urn:microsoft.com/office/officeart/2005/8/layout/bProcess3"/>
    <dgm:cxn modelId="{644C3183-E539-4969-AFC6-7547177A8C01}" type="presParOf" srcId="{451DD89A-4748-40F7-923F-1D7420A23927}" destId="{C8753693-303B-46DB-8831-3010E61DC997}" srcOrd="0" destOrd="0" presId="urn:microsoft.com/office/officeart/2005/8/layout/bProcess3"/>
    <dgm:cxn modelId="{A3350689-9960-44F1-B7DB-76B27497BAE5}" type="presParOf" srcId="{451DD89A-4748-40F7-923F-1D7420A23927}" destId="{1B1A244B-3F1C-47D1-88AD-98C3DC93332F}" srcOrd="1" destOrd="0" presId="urn:microsoft.com/office/officeart/2005/8/layout/bProcess3"/>
    <dgm:cxn modelId="{935589F2-392C-4328-A355-BE30449C6582}" type="presParOf" srcId="{1B1A244B-3F1C-47D1-88AD-98C3DC93332F}" destId="{8380138B-A8E9-4205-80E4-121DB3DEEC7B}" srcOrd="0" destOrd="0" presId="urn:microsoft.com/office/officeart/2005/8/layout/bProcess3"/>
    <dgm:cxn modelId="{894F9A6C-E72A-42AA-A928-D5502681FD63}" type="presParOf" srcId="{451DD89A-4748-40F7-923F-1D7420A23927}" destId="{DB0A9C9F-96CB-4824-BFFB-70342813A929}" srcOrd="2" destOrd="0" presId="urn:microsoft.com/office/officeart/2005/8/layout/bProcess3"/>
    <dgm:cxn modelId="{2F8C986A-8E0B-456B-9F9F-19A259A6D8E3}" type="presParOf" srcId="{451DD89A-4748-40F7-923F-1D7420A23927}" destId="{5FE69C94-A609-4AB7-9FC6-64818E2263D8}" srcOrd="3" destOrd="0" presId="urn:microsoft.com/office/officeart/2005/8/layout/bProcess3"/>
    <dgm:cxn modelId="{6E55CF20-E8EB-4B9F-9637-F4CB19E04884}" type="presParOf" srcId="{5FE69C94-A609-4AB7-9FC6-64818E2263D8}" destId="{F544AA27-8BBC-4330-8A2A-8745DEEFB3CC}" srcOrd="0" destOrd="0" presId="urn:microsoft.com/office/officeart/2005/8/layout/bProcess3"/>
    <dgm:cxn modelId="{5175DBC9-34C2-4503-9183-68746A43CEDE}" type="presParOf" srcId="{451DD89A-4748-40F7-923F-1D7420A23927}" destId="{0476A75A-7FF2-4E18-9EE8-B997D8E342BA}" srcOrd="4" destOrd="0" presId="urn:microsoft.com/office/officeart/2005/8/layout/bProcess3"/>
    <dgm:cxn modelId="{79734EC7-CC9C-4C45-98AF-86C9EAFA1CEC}" type="presParOf" srcId="{451DD89A-4748-40F7-923F-1D7420A23927}" destId="{68E38CAE-5A67-4796-8CF2-21B70B3D6F37}" srcOrd="5" destOrd="0" presId="urn:microsoft.com/office/officeart/2005/8/layout/bProcess3"/>
    <dgm:cxn modelId="{1CB3FE97-2C98-4F78-A3CD-6243DEA8F67F}" type="presParOf" srcId="{68E38CAE-5A67-4796-8CF2-21B70B3D6F37}" destId="{6891FBA6-6D84-4761-BAC5-98C38FB2AD39}" srcOrd="0" destOrd="0" presId="urn:microsoft.com/office/officeart/2005/8/layout/bProcess3"/>
    <dgm:cxn modelId="{548EF5A3-247E-4D24-B74C-75A34D3ED601}" type="presParOf" srcId="{451DD89A-4748-40F7-923F-1D7420A23927}" destId="{1140CFB6-B632-497C-B64D-1228DDB66906}" srcOrd="6" destOrd="0" presId="urn:microsoft.com/office/officeart/2005/8/layout/bProcess3"/>
    <dgm:cxn modelId="{462DC2E7-999C-4EE1-A5AD-99B586F360B2}" type="presParOf" srcId="{451DD89A-4748-40F7-923F-1D7420A23927}" destId="{7E6917EC-D16D-4265-8EE0-6515B1BA67BC}" srcOrd="7" destOrd="0" presId="urn:microsoft.com/office/officeart/2005/8/layout/bProcess3"/>
    <dgm:cxn modelId="{51254ACD-F951-4148-9375-27B19804317C}" type="presParOf" srcId="{7E6917EC-D16D-4265-8EE0-6515B1BA67BC}" destId="{101F1DED-07B6-4EDF-ADF7-54C239ACFC40}" srcOrd="0" destOrd="0" presId="urn:microsoft.com/office/officeart/2005/8/layout/bProcess3"/>
    <dgm:cxn modelId="{5D2BE9D3-B635-4E67-AFAA-8CFBBE2271B2}" type="presParOf" srcId="{451DD89A-4748-40F7-923F-1D7420A23927}" destId="{B0518294-8248-4ADB-BE05-DCE21CEBBC8E}" srcOrd="8" destOrd="0" presId="urn:microsoft.com/office/officeart/2005/8/layout/bProcess3"/>
    <dgm:cxn modelId="{DB963925-1B17-4D40-9B21-0D8752C96AF3}" type="presParOf" srcId="{451DD89A-4748-40F7-923F-1D7420A23927}" destId="{959A22A0-094C-4857-B898-E8A47C17194D}" srcOrd="9" destOrd="0" presId="urn:microsoft.com/office/officeart/2005/8/layout/bProcess3"/>
    <dgm:cxn modelId="{1E6A5AA6-CA2B-47CA-8CC3-FF7CAF4C76A0}" type="presParOf" srcId="{959A22A0-094C-4857-B898-E8A47C17194D}" destId="{C5DAB51F-CDE5-4E5E-B247-384F722B9836}" srcOrd="0" destOrd="0" presId="urn:microsoft.com/office/officeart/2005/8/layout/bProcess3"/>
    <dgm:cxn modelId="{038AD09F-298C-4C70-A1DA-EBFF2ABC624F}" type="presParOf" srcId="{451DD89A-4748-40F7-923F-1D7420A23927}" destId="{27B6008B-5C2F-4F85-93CC-3545DBDCEB3B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A244B-3F1C-47D1-88AD-98C3DC93332F}">
      <dsp:nvSpPr>
        <dsp:cNvPr id="0" name=""/>
        <dsp:cNvSpPr/>
      </dsp:nvSpPr>
      <dsp:spPr>
        <a:xfrm>
          <a:off x="2196684" y="517515"/>
          <a:ext cx="3998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9861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5853" y="561083"/>
        <a:ext cx="21523" cy="4304"/>
      </dsp:txXfrm>
    </dsp:sp>
    <dsp:sp modelId="{C8753693-303B-46DB-8831-3010E61DC997}">
      <dsp:nvSpPr>
        <dsp:cNvPr id="0" name=""/>
        <dsp:cNvSpPr/>
      </dsp:nvSpPr>
      <dsp:spPr>
        <a:xfrm>
          <a:off x="326912" y="1763"/>
          <a:ext cx="1871572" cy="11229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300" kern="1200"/>
            <a:t>FashionMNIST användes som dataset 28x28 pixlar gråskalebilder av klädesplagg.</a:t>
          </a:r>
          <a:endParaRPr lang="sv-SE" sz="1300" kern="1200">
            <a:latin typeface="Aptos Display" panose="02110004020202020204"/>
          </a:endParaRPr>
        </a:p>
      </dsp:txBody>
      <dsp:txXfrm>
        <a:off x="326912" y="1763"/>
        <a:ext cx="1871572" cy="1122943"/>
      </dsp:txXfrm>
    </dsp:sp>
    <dsp:sp modelId="{5FE69C94-A609-4AB7-9FC6-64818E2263D8}">
      <dsp:nvSpPr>
        <dsp:cNvPr id="0" name=""/>
        <dsp:cNvSpPr/>
      </dsp:nvSpPr>
      <dsp:spPr>
        <a:xfrm>
          <a:off x="1262698" y="1122907"/>
          <a:ext cx="2302034" cy="399861"/>
        </a:xfrm>
        <a:custGeom>
          <a:avLst/>
          <a:gdLst/>
          <a:ahLst/>
          <a:cxnLst/>
          <a:rect l="0" t="0" r="0" b="0"/>
          <a:pathLst>
            <a:path>
              <a:moveTo>
                <a:pt x="2302034" y="0"/>
              </a:moveTo>
              <a:lnTo>
                <a:pt x="2302034" y="217030"/>
              </a:lnTo>
              <a:lnTo>
                <a:pt x="0" y="217030"/>
              </a:lnTo>
              <a:lnTo>
                <a:pt x="0" y="399861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5167" y="1320685"/>
        <a:ext cx="117096" cy="4304"/>
      </dsp:txXfrm>
    </dsp:sp>
    <dsp:sp modelId="{DB0A9C9F-96CB-4824-BFFB-70342813A929}">
      <dsp:nvSpPr>
        <dsp:cNvPr id="0" name=""/>
        <dsp:cNvSpPr/>
      </dsp:nvSpPr>
      <dsp:spPr>
        <a:xfrm>
          <a:off x="2628946" y="1763"/>
          <a:ext cx="1871572" cy="11229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300" kern="1200">
              <a:latin typeface="Aptos Display" panose="02110004020202020204"/>
            </a:rPr>
            <a:t> </a:t>
          </a:r>
        </a:p>
      </dsp:txBody>
      <dsp:txXfrm>
        <a:off x="2628946" y="1763"/>
        <a:ext cx="1871572" cy="1122943"/>
      </dsp:txXfrm>
    </dsp:sp>
    <dsp:sp modelId="{68E38CAE-5A67-4796-8CF2-21B70B3D6F37}">
      <dsp:nvSpPr>
        <dsp:cNvPr id="0" name=""/>
        <dsp:cNvSpPr/>
      </dsp:nvSpPr>
      <dsp:spPr>
        <a:xfrm>
          <a:off x="2196684" y="2070920"/>
          <a:ext cx="3998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9861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5853" y="2114488"/>
        <a:ext cx="21523" cy="4304"/>
      </dsp:txXfrm>
    </dsp:sp>
    <dsp:sp modelId="{0476A75A-7FF2-4E18-9EE8-B997D8E342BA}">
      <dsp:nvSpPr>
        <dsp:cNvPr id="0" name=""/>
        <dsp:cNvSpPr/>
      </dsp:nvSpPr>
      <dsp:spPr>
        <a:xfrm>
          <a:off x="326912" y="1555168"/>
          <a:ext cx="1871572" cy="11229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300" kern="1200"/>
            <a:t>En enkel CNN-basmodell byggdes för att identifiera mönster i bilddata.</a:t>
          </a:r>
        </a:p>
      </dsp:txBody>
      <dsp:txXfrm>
        <a:off x="326912" y="1555168"/>
        <a:ext cx="1871572" cy="1122943"/>
      </dsp:txXfrm>
    </dsp:sp>
    <dsp:sp modelId="{7E6917EC-D16D-4265-8EE0-6515B1BA67BC}">
      <dsp:nvSpPr>
        <dsp:cNvPr id="0" name=""/>
        <dsp:cNvSpPr/>
      </dsp:nvSpPr>
      <dsp:spPr>
        <a:xfrm>
          <a:off x="1262698" y="2676312"/>
          <a:ext cx="2302034" cy="399861"/>
        </a:xfrm>
        <a:custGeom>
          <a:avLst/>
          <a:gdLst/>
          <a:ahLst/>
          <a:cxnLst/>
          <a:rect l="0" t="0" r="0" b="0"/>
          <a:pathLst>
            <a:path>
              <a:moveTo>
                <a:pt x="2302034" y="0"/>
              </a:moveTo>
              <a:lnTo>
                <a:pt x="2302034" y="217030"/>
              </a:lnTo>
              <a:lnTo>
                <a:pt x="0" y="217030"/>
              </a:lnTo>
              <a:lnTo>
                <a:pt x="0" y="399861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5167" y="2874090"/>
        <a:ext cx="117096" cy="4304"/>
      </dsp:txXfrm>
    </dsp:sp>
    <dsp:sp modelId="{1140CFB6-B632-497C-B64D-1228DDB66906}">
      <dsp:nvSpPr>
        <dsp:cNvPr id="0" name=""/>
        <dsp:cNvSpPr/>
      </dsp:nvSpPr>
      <dsp:spPr>
        <a:xfrm>
          <a:off x="2628946" y="1555168"/>
          <a:ext cx="1871572" cy="11229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300" kern="1200"/>
            <a:t>Convolution-lager användes för att upptäcka viktiga detaljer och former i bilderna.</a:t>
          </a:r>
        </a:p>
      </dsp:txBody>
      <dsp:txXfrm>
        <a:off x="2628946" y="1555168"/>
        <a:ext cx="1871572" cy="1122943"/>
      </dsp:txXfrm>
    </dsp:sp>
    <dsp:sp modelId="{959A22A0-094C-4857-B898-E8A47C17194D}">
      <dsp:nvSpPr>
        <dsp:cNvPr id="0" name=""/>
        <dsp:cNvSpPr/>
      </dsp:nvSpPr>
      <dsp:spPr>
        <a:xfrm>
          <a:off x="2196684" y="3624325"/>
          <a:ext cx="3998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9861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5853" y="3667893"/>
        <a:ext cx="21523" cy="4304"/>
      </dsp:txXfrm>
    </dsp:sp>
    <dsp:sp modelId="{B0518294-8248-4ADB-BE05-DCE21CEBBC8E}">
      <dsp:nvSpPr>
        <dsp:cNvPr id="0" name=""/>
        <dsp:cNvSpPr/>
      </dsp:nvSpPr>
      <dsp:spPr>
        <a:xfrm>
          <a:off x="326912" y="3108573"/>
          <a:ext cx="1871572" cy="11229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300" kern="1200"/>
            <a:t>MaxPooling minskade datamängden och gjorde modellen mer effektiv.</a:t>
          </a:r>
        </a:p>
      </dsp:txBody>
      <dsp:txXfrm>
        <a:off x="326912" y="3108573"/>
        <a:ext cx="1871572" cy="1122943"/>
      </dsp:txXfrm>
    </dsp:sp>
    <dsp:sp modelId="{27B6008B-5C2F-4F85-93CC-3545DBDCEB3B}">
      <dsp:nvSpPr>
        <dsp:cNvPr id="0" name=""/>
        <dsp:cNvSpPr/>
      </dsp:nvSpPr>
      <dsp:spPr>
        <a:xfrm>
          <a:off x="2628946" y="3108573"/>
          <a:ext cx="1871572" cy="11229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300" kern="1200"/>
            <a:t>Dense-lager användes för att klassificera bilderna i 10 olika klasser.</a:t>
          </a:r>
        </a:p>
      </dsp:txBody>
      <dsp:txXfrm>
        <a:off x="2628946" y="3108573"/>
        <a:ext cx="1871572" cy="1122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97C64-4D90-418F-9FE3-90B32D3C5667}" type="datetimeFigureOut">
              <a:t>2026-05-26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50165-E696-460A-8324-6E7AFB197D2D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3412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44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3B3B3B"/>
              </a:solidFill>
              <a:highlight>
                <a:srgbClr val="FFFFFF"/>
              </a:highlight>
              <a:ea typeface="Calibri"/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rPr lang="sv-SE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3063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8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>
              <a:ea typeface="Calibri"/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rPr lang="sv-SE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0405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21CF9-4A97-D989-BC68-75968C0A2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E1E5CB19-FD13-FA4E-3275-CA83D0B6F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E1C85405-BA38-12E4-7088-261C22927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DA949FB-101E-A4F1-E997-3603B3F59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1908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0808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44220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6CE20-3BB9-F274-AE55-E9E8C9078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A483C50D-093E-EC83-5159-6856C348B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3A40CCDB-8A31-F44B-2139-3E3AD4C44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72EB3F5-8D30-E872-1F29-D50647029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66201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t>22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52602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50165-E696-460A-8324-6E7AFB197D2D}" type="slidenum">
              <a:rPr lang="sv-SE"/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6177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5C10562-319C-0B4A-3938-766D9C3B4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C97BDA5-4C0F-CCC3-2114-5C4385C7D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03B3C0F-F3D3-4725-F095-064EB280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7BF871C-83C4-2289-AA90-5B89C281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C333122-0548-B009-390E-0B98B7C8A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9752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98B91FC-059E-CA4A-641B-5DB5A74F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A2FC2D2-F716-EF99-9AF1-9071A46BE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C5CD75-2CFD-08EE-9D8A-AB49F0E2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B58BB6E-3379-1383-F365-1AA610239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BFC216C-5587-F94E-E36B-99AB53B9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305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817B679-866B-6CB6-34AC-E0A8206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DB4345A-0B50-3329-6B19-E816CC939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AC109DE-2154-11FF-59B5-B66AACD4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16434EB-50E3-412D-344D-22CBCBF3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F02F143-B192-1BBE-3227-B4CD1EC6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457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C27253E-33D4-0C80-212A-F275787B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E0ED056-D953-ADBF-6F79-5175ACB59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17C4D5B-F807-4B30-CD7D-ADA5C46EF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9DE2629-F2E4-10A9-3CE3-212AFD9F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2144008-6960-DA6E-775E-041A792D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2A411EC-7A52-F703-78AF-C8A231C7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2313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52EBA11-4C39-2BDC-7A02-8796C939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520EAC8-9760-ABE9-2062-7CC763A7B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D9895427-5B02-9E2A-46BF-73BF69003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E08BE16-ED53-A093-498F-A56655DD4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707DFA0B-9ABE-31DF-B24B-3AA923940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B62CBF12-D4AF-26BC-DF81-FEC7E37F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DD7DA8FB-2546-A0D5-24CE-A54331DC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031CF241-CA6A-7B16-0EDF-4F1DA9D8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3913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B5160B7-26E1-590E-237D-6B1E6774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52A6392-C688-B23B-DF36-08555B84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FB9C3C5-4E6F-CFAE-78DA-FC6B7449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B81C316-E895-58C8-BFF1-C3F86A91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667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F379978D-536C-8277-D173-FC11A48D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7EB76CCC-9C7A-1EC5-71B8-8E821DFA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AA9A14E-F4D1-0D16-F2D4-DDB432194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6957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F9DF2AB-21BF-0231-D4E7-21EEE298C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02396E9-4924-3362-19FD-CE1E8F2EE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D79C340-431E-6DAA-8B55-E2CDE8AD0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230D8C95-DEFC-EFB6-F711-DCA4DB5C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E0A9253-9E5C-5543-C424-CC28CF46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CFF2A887-A14B-23C1-C01E-275C1ADD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148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7B61E63-937D-E263-A31B-60ECDFFC7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67F6AA63-A915-5A70-2179-07D093C75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BE0B874-9702-5811-C65D-E80C46BE2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EEC4FEC-6E96-28E8-C441-36E0E1892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E3E81AD-1A69-31AB-0223-DDD26448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CD14BC4-8AE6-C822-9215-4DF97C9A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856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5B5D261-0809-7D59-8562-43D0BB10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3A9A5C9-84C0-39EB-ED9F-B9C531116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FCCE37C-4E7B-C3A5-4F55-8D8C62D0A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4AE27C6-EBD9-AB2C-8C23-17B266E8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146628F-2201-3767-3C0F-4FA8D451F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00223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B610E2B5-97B8-7BCE-89CB-2DB2BFDE4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460505F6-1BEC-4D88-219D-B6F22B754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CA3CC68-F2DE-F159-6CB3-3928017E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92A8CD0-6964-77A4-A761-B2DEF451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E08178B-81BD-67CF-B8A8-08C24FA0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688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FD98732-17C3-65D1-697B-47D9154F6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B74931D-C509-92BC-79B3-CF188E750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3AFC9AA-F8EB-5FB3-4BBA-6369192C4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DD804-DB9F-4108-A874-77AD339768E5}" type="datetimeFigureOut">
              <a:rPr lang="sv-SE" smtClean="0"/>
              <a:t>2026-05-26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99CF814-C6F7-29B9-C390-E2CBA8CE7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FF41F81-C8D7-2FE4-A061-3E5A43B94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09D1C-8CBA-433D-8B57-707FA53F09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538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gif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D68BB05-8622-FEB6-2278-DBF0F7AA96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>
                <a:latin typeface="Miriam Fixed"/>
                <a:cs typeface="Miriam Fixed"/>
              </a:rPr>
              <a:t>Deep Learning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4152621A-9030-4FDE-9FFD-3A1B6AD48D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v-SE">
                <a:latin typeface="Grandview Display"/>
              </a:rPr>
              <a:t>Optimizer – Learning rate</a:t>
            </a:r>
          </a:p>
          <a:p>
            <a:endParaRPr lang="sv-SE" i="1"/>
          </a:p>
          <a:p>
            <a:r>
              <a:rPr lang="sv-SE">
                <a:latin typeface="Sitka Heading"/>
              </a:rPr>
              <a:t>Josefin    Shara    Alma    Malin    Vera    Jack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F76B41E-42B6-3871-F52F-72A4852621D6}"/>
              </a:ext>
            </a:extLst>
          </p:cNvPr>
          <p:cNvSpPr/>
          <p:nvPr/>
        </p:nvSpPr>
        <p:spPr>
          <a:xfrm>
            <a:off x="4291221" y="4724294"/>
            <a:ext cx="47625" cy="47625"/>
          </a:xfrm>
          <a:prstGeom prst="flowChartConnector">
            <a:avLst/>
          </a:prstGeom>
          <a:solidFill>
            <a:srgbClr val="968172"/>
          </a:solidFill>
          <a:ln>
            <a:solidFill>
              <a:srgbClr val="968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871A7F00-35D5-EED0-9F6F-CF1B845FEDA7}"/>
              </a:ext>
            </a:extLst>
          </p:cNvPr>
          <p:cNvSpPr/>
          <p:nvPr/>
        </p:nvSpPr>
        <p:spPr>
          <a:xfrm>
            <a:off x="5312802" y="4724294"/>
            <a:ext cx="47625" cy="47625"/>
          </a:xfrm>
          <a:prstGeom prst="flowChartConnector">
            <a:avLst/>
          </a:prstGeom>
          <a:solidFill>
            <a:srgbClr val="968172"/>
          </a:solidFill>
          <a:ln>
            <a:solidFill>
              <a:srgbClr val="968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B35A21D-81D3-9465-AE41-C4C67E76F51A}"/>
              </a:ext>
            </a:extLst>
          </p:cNvPr>
          <p:cNvSpPr/>
          <p:nvPr/>
        </p:nvSpPr>
        <p:spPr>
          <a:xfrm>
            <a:off x="6284142" y="4724292"/>
            <a:ext cx="47625" cy="47625"/>
          </a:xfrm>
          <a:prstGeom prst="flowChartConnector">
            <a:avLst/>
          </a:prstGeom>
          <a:solidFill>
            <a:srgbClr val="968172"/>
          </a:solidFill>
          <a:ln>
            <a:solidFill>
              <a:srgbClr val="968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9D4A4E0-E2F2-2B91-CA7E-EB236CE01B6B}"/>
              </a:ext>
            </a:extLst>
          </p:cNvPr>
          <p:cNvSpPr/>
          <p:nvPr/>
        </p:nvSpPr>
        <p:spPr>
          <a:xfrm>
            <a:off x="7295404" y="4724293"/>
            <a:ext cx="47625" cy="47625"/>
          </a:xfrm>
          <a:prstGeom prst="flowChartConnector">
            <a:avLst/>
          </a:prstGeom>
          <a:solidFill>
            <a:srgbClr val="968172"/>
          </a:solidFill>
          <a:ln>
            <a:solidFill>
              <a:srgbClr val="968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C04D4F0F-98B3-F95C-E906-39422865095A}"/>
              </a:ext>
            </a:extLst>
          </p:cNvPr>
          <p:cNvSpPr/>
          <p:nvPr/>
        </p:nvSpPr>
        <p:spPr>
          <a:xfrm>
            <a:off x="8159834" y="4724292"/>
            <a:ext cx="47625" cy="47625"/>
          </a:xfrm>
          <a:prstGeom prst="flowChartConnector">
            <a:avLst/>
          </a:prstGeom>
          <a:solidFill>
            <a:srgbClr val="968172"/>
          </a:solidFill>
          <a:ln>
            <a:solidFill>
              <a:srgbClr val="968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94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C53C-0934-881E-17A8-C0E50E86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</a:rPr>
              <a:t>Data - </a:t>
            </a:r>
            <a:r>
              <a:rPr lang="sv-SE">
                <a:latin typeface="Grandview Display"/>
              </a:rPr>
              <a:t>Optimering och Träningsprocess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528DE747-4386-A56F-975F-12864D9F07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464691"/>
              </p:ext>
            </p:extLst>
          </p:nvPr>
        </p:nvGraphicFramePr>
        <p:xfrm>
          <a:off x="1161939" y="2235603"/>
          <a:ext cx="4827431" cy="4233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26FFDD-FA90-2BE5-C176-46E731932AC4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C0EDC1-C5B2-77F9-61DA-3ADD80ADACD3}"/>
              </a:ext>
            </a:extLst>
          </p:cNvPr>
          <p:cNvSpPr txBox="1"/>
          <p:nvPr/>
        </p:nvSpPr>
        <p:spPr>
          <a:xfrm>
            <a:off x="129917" y="17339"/>
            <a:ext cx="11403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b="1">
              <a:solidFill>
                <a:srgbClr val="968172"/>
              </a:solidFill>
              <a:latin typeface="Sitka Heading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E715B-1BF3-0876-974D-3856BB6B844E}"/>
              </a:ext>
            </a:extLst>
          </p:cNvPr>
          <p:cNvSpPr txBox="1"/>
          <p:nvPr/>
        </p:nvSpPr>
        <p:spPr>
          <a:xfrm>
            <a:off x="-5753" y="17325"/>
            <a:ext cx="11692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Malin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B4FBD8-AB3A-3374-8F10-09474EFEB416}"/>
              </a:ext>
            </a:extLst>
          </p:cNvPr>
          <p:cNvSpPr txBox="1"/>
          <p:nvPr/>
        </p:nvSpPr>
        <p:spPr>
          <a:xfrm>
            <a:off x="6655578" y="2600260"/>
            <a:ext cx="4444108" cy="3833096"/>
          </a:xfrm>
          <a:prstGeom prst="ellipse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sv-SE" sz="1700"/>
              <a:t>Olika optimerare och learning rates testades under träningsprocessen.</a:t>
            </a:r>
            <a:endParaRPr lang="sv-SE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sv-SE" sz="170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sv-SE" sz="1700"/>
              <a:t>Vi utvärderade på hur snabbt, stabilt och noggrant modellen lär sig.</a:t>
            </a:r>
            <a:endParaRPr lang="sv-SE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1700"/>
          </a:p>
          <a:p>
            <a:pPr algn="l">
              <a:lnSpc>
                <a:spcPct val="90000"/>
              </a:lnSpc>
              <a:spcBef>
                <a:spcPts val="1000"/>
              </a:spcBef>
            </a:pPr>
            <a:endParaRPr lang="en-US" sz="17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AFBB47-790D-B0FB-2060-5F208E53A5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0010" y="1817436"/>
            <a:ext cx="2361757" cy="1614154"/>
          </a:xfrm>
          <a:prstGeom prst="rect">
            <a:avLst/>
          </a:prstGeom>
        </p:spPr>
      </p:pic>
      <p:pic>
        <p:nvPicPr>
          <p:cNvPr id="285" name="Graphic 284" descr="Kommentar viktig kontur">
            <a:extLst>
              <a:ext uri="{FF2B5EF4-FFF2-40B4-BE49-F238E27FC236}">
                <a16:creationId xmlns:a16="http://schemas.microsoft.com/office/drawing/2014/main" id="{6F8154B7-BE2D-F3A3-0F32-1AFE1C79B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86282" y="4343400"/>
            <a:ext cx="448236" cy="448236"/>
          </a:xfrm>
          <a:prstGeom prst="rect">
            <a:avLst/>
          </a:prstGeom>
        </p:spPr>
      </p:pic>
      <p:pic>
        <p:nvPicPr>
          <p:cNvPr id="286" name="Graphic 285" descr="Pilcirkel kontur">
            <a:extLst>
              <a:ext uri="{FF2B5EF4-FFF2-40B4-BE49-F238E27FC236}">
                <a16:creationId xmlns:a16="http://schemas.microsoft.com/office/drawing/2014/main" id="{0D436A4B-7E00-38B6-0F80-051419B99C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77317" y="3169023"/>
            <a:ext cx="457201" cy="51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7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B08903D-62C5-9E48-A6D1-83D50324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latin typeface="Grandview Display"/>
              </a:rPr>
              <a:t>Learning Rate – Modellens steglängd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329DF95-BF2C-2D54-631D-515AF25C2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4487" t="-1229" r="26539" b="1229"/>
          <a:stretch>
            <a:fillRect/>
          </a:stretch>
        </p:blipFill>
        <p:spPr>
          <a:xfrm>
            <a:off x="691303" y="1847744"/>
            <a:ext cx="2955463" cy="3294373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30899766-CC43-CBE6-FF47-4F521ADCEC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2441" y1="77281" x2="52441" y2="77281"/>
                      </a14:backgroundRemoval>
                    </a14:imgEffect>
                  </a14:imgLayer>
                </a14:imgProps>
              </a:ext>
            </a:extLst>
          </a:blip>
          <a:srcRect l="37595" t="6762" r="38636"/>
          <a:stretch>
            <a:fillRect/>
          </a:stretch>
        </p:blipFill>
        <p:spPr>
          <a:xfrm>
            <a:off x="5300809" y="2116008"/>
            <a:ext cx="1413164" cy="3026109"/>
          </a:xfrm>
          <a:prstGeom prst="rect">
            <a:avLst/>
          </a:prstGeom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168A0E5F-E1FD-2A12-F047-039F2A02DE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0234" y1="86404" x2="40234" y2="86404"/>
                        <a14:foregroundMark x1="56934" y1="89267" x2="56934" y2="89267"/>
                      </a14:backgroundRemoval>
                    </a14:imgEffect>
                  </a14:imgLayer>
                </a14:imgProps>
              </a:ext>
            </a:extLst>
          </a:blip>
          <a:srcRect l="35038" t="7630" r="37310"/>
          <a:stretch>
            <a:fillRect/>
          </a:stretch>
        </p:blipFill>
        <p:spPr>
          <a:xfrm>
            <a:off x="8684578" y="2060020"/>
            <a:ext cx="1659436" cy="3026109"/>
          </a:xfrm>
          <a:prstGeom prst="rect">
            <a:avLst/>
          </a:prstGeom>
        </p:spPr>
      </p:pic>
      <p:sp>
        <p:nvSpPr>
          <p:cNvPr id="9" name="textruta 8">
            <a:extLst>
              <a:ext uri="{FF2B5EF4-FFF2-40B4-BE49-F238E27FC236}">
                <a16:creationId xmlns:a16="http://schemas.microsoft.com/office/drawing/2014/main" id="{682C9692-9433-544B-BE71-54AF0BCB5C0E}"/>
              </a:ext>
            </a:extLst>
          </p:cNvPr>
          <p:cNvSpPr txBox="1"/>
          <p:nvPr/>
        </p:nvSpPr>
        <p:spPr>
          <a:xfrm>
            <a:off x="1124440" y="1690688"/>
            <a:ext cx="238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Hög LR – Stora steg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F000B867-144C-F071-A520-64D290EB9F1F}"/>
              </a:ext>
            </a:extLst>
          </p:cNvPr>
          <p:cNvSpPr txBox="1"/>
          <p:nvPr/>
        </p:nvSpPr>
        <p:spPr>
          <a:xfrm>
            <a:off x="8331955" y="1690688"/>
            <a:ext cx="252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Lagom LR – Lagom steg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928D9794-5F54-4B79-4F64-10DB74EE90F1}"/>
              </a:ext>
            </a:extLst>
          </p:cNvPr>
          <p:cNvSpPr txBox="1"/>
          <p:nvPr/>
        </p:nvSpPr>
        <p:spPr>
          <a:xfrm>
            <a:off x="4904509" y="1690688"/>
            <a:ext cx="238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Låg LR – Små steg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6F88B116-40F0-2D12-9621-52789C64726E}"/>
              </a:ext>
            </a:extLst>
          </p:cNvPr>
          <p:cNvSpPr txBox="1"/>
          <p:nvPr/>
        </p:nvSpPr>
        <p:spPr>
          <a:xfrm>
            <a:off x="838200" y="5299173"/>
            <a:ext cx="338281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Instabil träning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Loss som hoppar upp och 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Modellen lär sig aldrig ordentligt</a:t>
            </a: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BEF953E0-40A7-80CB-BA84-AF542DB4CF6C}"/>
              </a:ext>
            </a:extLst>
          </p:cNvPr>
          <p:cNvSpPr txBox="1"/>
          <p:nvPr/>
        </p:nvSpPr>
        <p:spPr>
          <a:xfrm>
            <a:off x="4904509" y="5268396"/>
            <a:ext cx="2605809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Stabil träning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Tar extremt lång tid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Kommer aldrig i mål</a:t>
            </a:r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1EF32423-A849-2AE4-5614-AA22FB6ED23B}"/>
              </a:ext>
            </a:extLst>
          </p:cNvPr>
          <p:cNvSpPr txBox="1"/>
          <p:nvPr/>
        </p:nvSpPr>
        <p:spPr>
          <a:xfrm>
            <a:off x="7510318" y="5283784"/>
            <a:ext cx="420445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Ger stabil och effektiv träning</a:t>
            </a:r>
          </a:p>
          <a:p>
            <a:r>
              <a:rPr lang="sv-SE" sz="1600"/>
              <a:t>        - Fast learning rate (konstant)</a:t>
            </a:r>
          </a:p>
          <a:p>
            <a:r>
              <a:rPr lang="sv-SE" sz="1600"/>
              <a:t>        - Learning rate scheduler  (ändras över tid)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9C600A-73CA-39A4-AB49-09F22E5A2AEF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7AD1AD6-F2A8-63EE-024A-19664FC733B0}"/>
              </a:ext>
            </a:extLst>
          </p:cNvPr>
          <p:cNvSpPr txBox="1"/>
          <p:nvPr/>
        </p:nvSpPr>
        <p:spPr>
          <a:xfrm>
            <a:off x="3053" y="27"/>
            <a:ext cx="12414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Shara</a:t>
            </a:r>
          </a:p>
        </p:txBody>
      </p:sp>
    </p:spTree>
    <p:extLst>
      <p:ext uri="{BB962C8B-B14F-4D97-AF65-F5344CB8AC3E}">
        <p14:creationId xmlns:p14="http://schemas.microsoft.com/office/powerpoint/2010/main" val="3515716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>
            <a:extLst>
              <a:ext uri="{FF2B5EF4-FFF2-40B4-BE49-F238E27FC236}">
                <a16:creationId xmlns:a16="http://schemas.microsoft.com/office/drawing/2014/main" id="{D391E3FB-80E3-22C7-70C0-3CB706F6D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76225"/>
            <a:ext cx="11231336" cy="6305550"/>
          </a:xfrm>
          <a:prstGeom prst="rect">
            <a:avLst/>
          </a:prstGeom>
        </p:spPr>
      </p:pic>
      <p:pic>
        <p:nvPicPr>
          <p:cNvPr id="14" name="Bildobjekt 13">
            <a:extLst>
              <a:ext uri="{FF2B5EF4-FFF2-40B4-BE49-F238E27FC236}">
                <a16:creationId xmlns:a16="http://schemas.microsoft.com/office/drawing/2014/main" id="{AFAF8607-C621-6EB0-227F-B01903732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246654">
            <a:off x="1407100" y="94203"/>
            <a:ext cx="1493107" cy="1572528"/>
          </a:xfrm>
          <a:prstGeom prst="rect">
            <a:avLst/>
          </a:prstGeom>
        </p:spPr>
      </p:pic>
      <p:pic>
        <p:nvPicPr>
          <p:cNvPr id="16" name="Bildobjekt 15">
            <a:extLst>
              <a:ext uri="{FF2B5EF4-FFF2-40B4-BE49-F238E27FC236}">
                <a16:creationId xmlns:a16="http://schemas.microsoft.com/office/drawing/2014/main" id="{7405F0A7-1ADD-535D-FB84-6144B27D8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1976193">
            <a:off x="2739967" y="324569"/>
            <a:ext cx="1493107" cy="1572528"/>
          </a:xfrm>
          <a:prstGeom prst="rect">
            <a:avLst/>
          </a:prstGeom>
        </p:spPr>
      </p:pic>
      <p:pic>
        <p:nvPicPr>
          <p:cNvPr id="17" name="Bildobjekt 16">
            <a:extLst>
              <a:ext uri="{FF2B5EF4-FFF2-40B4-BE49-F238E27FC236}">
                <a16:creationId xmlns:a16="http://schemas.microsoft.com/office/drawing/2014/main" id="{E07BAD1E-34A5-AD12-6F17-CFDD3DFA5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2956321">
            <a:off x="3695370" y="1096767"/>
            <a:ext cx="1493107" cy="1572528"/>
          </a:xfrm>
          <a:prstGeom prst="rect">
            <a:avLst/>
          </a:prstGeom>
        </p:spPr>
      </p:pic>
      <p:pic>
        <p:nvPicPr>
          <p:cNvPr id="18" name="Bildobjekt 17">
            <a:extLst>
              <a:ext uri="{FF2B5EF4-FFF2-40B4-BE49-F238E27FC236}">
                <a16:creationId xmlns:a16="http://schemas.microsoft.com/office/drawing/2014/main" id="{3ACD00FB-5096-E4F8-A842-DA9E8328C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3425637">
            <a:off x="4591517" y="2149602"/>
            <a:ext cx="1493107" cy="1572528"/>
          </a:xfrm>
          <a:prstGeom prst="rect">
            <a:avLst/>
          </a:prstGeom>
        </p:spPr>
      </p:pic>
      <p:pic>
        <p:nvPicPr>
          <p:cNvPr id="19" name="Bildobjekt 18">
            <a:extLst>
              <a:ext uri="{FF2B5EF4-FFF2-40B4-BE49-F238E27FC236}">
                <a16:creationId xmlns:a16="http://schemas.microsoft.com/office/drawing/2014/main" id="{937DCDAB-6784-FCD3-7855-5A895AADE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246654">
            <a:off x="5908009" y="3204041"/>
            <a:ext cx="1493107" cy="1572528"/>
          </a:xfrm>
          <a:prstGeom prst="rect">
            <a:avLst/>
          </a:prstGeom>
        </p:spPr>
      </p:pic>
      <p:pic>
        <p:nvPicPr>
          <p:cNvPr id="20" name="Bildobjekt 19">
            <a:extLst>
              <a:ext uri="{FF2B5EF4-FFF2-40B4-BE49-F238E27FC236}">
                <a16:creationId xmlns:a16="http://schemas.microsoft.com/office/drawing/2014/main" id="{D06457BB-39F5-7622-E97F-EB22CEBAF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2719082">
            <a:off x="5285014" y="2992113"/>
            <a:ext cx="1493107" cy="1572528"/>
          </a:xfrm>
          <a:prstGeom prst="rect">
            <a:avLst/>
          </a:prstGeom>
        </p:spPr>
      </p:pic>
      <p:pic>
        <p:nvPicPr>
          <p:cNvPr id="21" name="Bildobjekt 20">
            <a:extLst>
              <a:ext uri="{FF2B5EF4-FFF2-40B4-BE49-F238E27FC236}">
                <a16:creationId xmlns:a16="http://schemas.microsoft.com/office/drawing/2014/main" id="{9C79BD7B-42F9-4E74-A5AA-AA6CCEA81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18400100">
            <a:off x="6352293" y="2811077"/>
            <a:ext cx="1493107" cy="1572528"/>
          </a:xfrm>
          <a:prstGeom prst="rect">
            <a:avLst/>
          </a:prstGeom>
        </p:spPr>
      </p:pic>
      <p:pic>
        <p:nvPicPr>
          <p:cNvPr id="22" name="Bildobjekt 21">
            <a:extLst>
              <a:ext uri="{FF2B5EF4-FFF2-40B4-BE49-F238E27FC236}">
                <a16:creationId xmlns:a16="http://schemas.microsoft.com/office/drawing/2014/main" id="{065EBD61-9CC5-E14B-F321-3245480F9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18371851" flipH="1">
            <a:off x="6183978" y="3007980"/>
            <a:ext cx="1493107" cy="1572528"/>
          </a:xfrm>
          <a:prstGeom prst="rect">
            <a:avLst/>
          </a:prstGeom>
        </p:spPr>
      </p:pic>
      <p:pic>
        <p:nvPicPr>
          <p:cNvPr id="23" name="Bildobjekt 22">
            <a:extLst>
              <a:ext uri="{FF2B5EF4-FFF2-40B4-BE49-F238E27FC236}">
                <a16:creationId xmlns:a16="http://schemas.microsoft.com/office/drawing/2014/main" id="{50269BF7-FE41-A0E6-DF3C-AC1A00771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1330254">
            <a:off x="5212526" y="2992112"/>
            <a:ext cx="1493107" cy="1572528"/>
          </a:xfrm>
          <a:prstGeom prst="rect">
            <a:avLst/>
          </a:prstGeom>
          <a:scene3d>
            <a:camera prst="orthographicFront">
              <a:rot lat="0" lon="0" rev="20399999"/>
            </a:camera>
            <a:lightRig rig="threePt" dir="t"/>
          </a:scene3d>
        </p:spPr>
      </p:pic>
      <p:sp>
        <p:nvSpPr>
          <p:cNvPr id="26" name="Multiplikationstecken 25">
            <a:extLst>
              <a:ext uri="{FF2B5EF4-FFF2-40B4-BE49-F238E27FC236}">
                <a16:creationId xmlns:a16="http://schemas.microsoft.com/office/drawing/2014/main" id="{EE17A6D0-4310-2FA4-AEFB-D61E6734BEAC}"/>
              </a:ext>
            </a:extLst>
          </p:cNvPr>
          <p:cNvSpPr/>
          <p:nvPr/>
        </p:nvSpPr>
        <p:spPr>
          <a:xfrm>
            <a:off x="6161597" y="4319708"/>
            <a:ext cx="647285" cy="602911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31" name="Bildobjekt 30">
            <a:extLst>
              <a:ext uri="{FF2B5EF4-FFF2-40B4-BE49-F238E27FC236}">
                <a16:creationId xmlns:a16="http://schemas.microsoft.com/office/drawing/2014/main" id="{8C580235-1CF0-C639-D114-F012F7777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>
            <a:off x="5960055" y="3051659"/>
            <a:ext cx="1493107" cy="1572528"/>
          </a:xfrm>
          <a:prstGeom prst="rect">
            <a:avLst/>
          </a:prstGeom>
        </p:spPr>
      </p:pic>
      <p:pic>
        <p:nvPicPr>
          <p:cNvPr id="33" name="Bildobjekt 32">
            <a:extLst>
              <a:ext uri="{FF2B5EF4-FFF2-40B4-BE49-F238E27FC236}">
                <a16:creationId xmlns:a16="http://schemas.microsoft.com/office/drawing/2014/main" id="{00FF1967-C071-A4C4-D558-85DA87A57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flipH="1">
            <a:off x="5741917" y="3136670"/>
            <a:ext cx="1493107" cy="1572528"/>
          </a:xfrm>
          <a:prstGeom prst="rect">
            <a:avLst/>
          </a:prstGeom>
        </p:spPr>
      </p:pic>
      <p:pic>
        <p:nvPicPr>
          <p:cNvPr id="34" name="Bildobjekt 33">
            <a:extLst>
              <a:ext uri="{FF2B5EF4-FFF2-40B4-BE49-F238E27FC236}">
                <a16:creationId xmlns:a16="http://schemas.microsoft.com/office/drawing/2014/main" id="{1A8FE352-3F2C-AE6B-8B95-30C7BBBC2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19781781" flipH="1">
            <a:off x="5416950" y="2961522"/>
            <a:ext cx="1493107" cy="1572528"/>
          </a:xfrm>
          <a:prstGeom prst="rect">
            <a:avLst/>
          </a:prstGeom>
        </p:spPr>
      </p:pic>
      <p:pic>
        <p:nvPicPr>
          <p:cNvPr id="24" name="Bildobjekt 23">
            <a:extLst>
              <a:ext uri="{FF2B5EF4-FFF2-40B4-BE49-F238E27FC236}">
                <a16:creationId xmlns:a16="http://schemas.microsoft.com/office/drawing/2014/main" id="{609486C8-FE93-8B34-4D45-9DE1EACB5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20635727" flipH="1">
            <a:off x="5067287" y="2794790"/>
            <a:ext cx="1493107" cy="1572528"/>
          </a:xfrm>
          <a:prstGeom prst="rect">
            <a:avLst/>
          </a:prstGeom>
          <a:scene3d>
            <a:camera prst="orthographicFront">
              <a:rot lat="0" lon="0" rev="18600000"/>
            </a:camera>
            <a:lightRig rig="threePt" dir="t"/>
          </a:scene3d>
        </p:spPr>
      </p:pic>
      <p:pic>
        <p:nvPicPr>
          <p:cNvPr id="35" name="Bildobjekt 34">
            <a:extLst>
              <a:ext uri="{FF2B5EF4-FFF2-40B4-BE49-F238E27FC236}">
                <a16:creationId xmlns:a16="http://schemas.microsoft.com/office/drawing/2014/main" id="{C181D98C-158A-F7E6-0446-5CD4B5FB9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8000" t="7925" r="27937" b="7066"/>
          <a:stretch>
            <a:fillRect/>
          </a:stretch>
        </p:blipFill>
        <p:spPr>
          <a:xfrm rot="18400100">
            <a:off x="6267900" y="2886913"/>
            <a:ext cx="1493107" cy="1572528"/>
          </a:xfrm>
          <a:prstGeom prst="rect">
            <a:avLst/>
          </a:prstGeom>
        </p:spPr>
      </p:pic>
      <p:sp>
        <p:nvSpPr>
          <p:cNvPr id="37" name="textruta 36">
            <a:extLst>
              <a:ext uri="{FF2B5EF4-FFF2-40B4-BE49-F238E27FC236}">
                <a16:creationId xmlns:a16="http://schemas.microsoft.com/office/drawing/2014/main" id="{D954C4E6-71EE-33B5-14AF-8EB41998FF03}"/>
              </a:ext>
            </a:extLst>
          </p:cNvPr>
          <p:cNvSpPr txBox="1"/>
          <p:nvPr/>
        </p:nvSpPr>
        <p:spPr>
          <a:xfrm>
            <a:off x="808972" y="5871732"/>
            <a:ext cx="357447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v-SE" sz="3200">
                <a:latin typeface="Grandview Display"/>
              </a:rPr>
              <a:t>Hög Learning Rate</a:t>
            </a:r>
          </a:p>
        </p:txBody>
      </p:sp>
    </p:spTree>
    <p:extLst>
      <p:ext uri="{BB962C8B-B14F-4D97-AF65-F5344CB8AC3E}">
        <p14:creationId xmlns:p14="http://schemas.microsoft.com/office/powerpoint/2010/main" val="316318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objekt 16">
            <a:extLst>
              <a:ext uri="{FF2B5EF4-FFF2-40B4-BE49-F238E27FC236}">
                <a16:creationId xmlns:a16="http://schemas.microsoft.com/office/drawing/2014/main" id="{E81D47AC-7F36-0DD2-F175-3F93151EB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76225"/>
            <a:ext cx="11088461" cy="6172200"/>
          </a:xfrm>
          <a:prstGeom prst="rect">
            <a:avLst/>
          </a:prstGeom>
        </p:spPr>
      </p:pic>
      <p:sp>
        <p:nvSpPr>
          <p:cNvPr id="18" name="Multiplikationstecken 17">
            <a:extLst>
              <a:ext uri="{FF2B5EF4-FFF2-40B4-BE49-F238E27FC236}">
                <a16:creationId xmlns:a16="http://schemas.microsoft.com/office/drawing/2014/main" id="{B55A9A3E-05EF-88E8-CE18-82DD3E171F2D}"/>
              </a:ext>
            </a:extLst>
          </p:cNvPr>
          <p:cNvSpPr/>
          <p:nvPr/>
        </p:nvSpPr>
        <p:spPr>
          <a:xfrm>
            <a:off x="6018722" y="4176833"/>
            <a:ext cx="647285" cy="602911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7B463689-FF9C-5943-706D-1177210D4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1942789" y="28575"/>
            <a:ext cx="800411" cy="1538287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220AE696-8F4D-BEED-B4EF-46318C386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2190283" y="33337"/>
            <a:ext cx="800411" cy="1538287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B42A41F6-8B7F-AAC7-B5BD-4009E5FC6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2485402" y="28574"/>
            <a:ext cx="800411" cy="1538287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7586D026-69E3-0D84-583F-19E122C7B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2342994" y="33337"/>
            <a:ext cx="800411" cy="1538287"/>
          </a:xfrm>
          <a:prstGeom prst="rect">
            <a:avLst/>
          </a:prstGeom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F47C9A6E-4ED4-E99D-5290-C540DF071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2756943" y="138112"/>
            <a:ext cx="800411" cy="1538287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27CDD9F0-1D6E-451C-FA85-6A36F3D1D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2637646" y="140493"/>
            <a:ext cx="800411" cy="1538287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375DF191-8729-12D3-1B60-E9E5F1D2C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2885918" y="221455"/>
            <a:ext cx="800411" cy="1538287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AA01AD8A-D10E-0CA4-21EC-441327D04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037851" y="269078"/>
            <a:ext cx="800411" cy="1538287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C2F9CD68-09B1-4B46-FE45-C230C1F77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190095" y="333372"/>
            <a:ext cx="800411" cy="1538287"/>
          </a:xfrm>
          <a:prstGeom prst="rect">
            <a:avLst/>
          </a:prstGeom>
        </p:spPr>
      </p:pic>
      <p:pic>
        <p:nvPicPr>
          <p:cNvPr id="13" name="Bildobjekt 12">
            <a:extLst>
              <a:ext uri="{FF2B5EF4-FFF2-40B4-BE49-F238E27FC236}">
                <a16:creationId xmlns:a16="http://schemas.microsoft.com/office/drawing/2014/main" id="{8FF8B797-6218-8D1C-2B04-67C71A032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342339" y="461960"/>
            <a:ext cx="800411" cy="1538287"/>
          </a:xfrm>
          <a:prstGeom prst="rect">
            <a:avLst/>
          </a:prstGeom>
        </p:spPr>
      </p:pic>
      <p:pic>
        <p:nvPicPr>
          <p:cNvPr id="14" name="Bildobjekt 13">
            <a:extLst>
              <a:ext uri="{FF2B5EF4-FFF2-40B4-BE49-F238E27FC236}">
                <a16:creationId xmlns:a16="http://schemas.microsoft.com/office/drawing/2014/main" id="{02949A4D-421D-4D14-CFFF-E8141C26B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333595" y="435766"/>
            <a:ext cx="800411" cy="1538287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4A513EE9-E1A8-0AA1-3CAB-1489EDF56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446333" y="564353"/>
            <a:ext cx="800411" cy="1538287"/>
          </a:xfrm>
          <a:prstGeom prst="rect">
            <a:avLst/>
          </a:prstGeom>
        </p:spPr>
      </p:pic>
      <p:pic>
        <p:nvPicPr>
          <p:cNvPr id="19" name="Bildobjekt 18">
            <a:extLst>
              <a:ext uri="{FF2B5EF4-FFF2-40B4-BE49-F238E27FC236}">
                <a16:creationId xmlns:a16="http://schemas.microsoft.com/office/drawing/2014/main" id="{C16AF43D-A91F-CD90-96B9-39A7F2D82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579996" y="660684"/>
            <a:ext cx="800411" cy="1538287"/>
          </a:xfrm>
          <a:prstGeom prst="rect">
            <a:avLst/>
          </a:prstGeom>
        </p:spPr>
      </p:pic>
      <p:pic>
        <p:nvPicPr>
          <p:cNvPr id="20" name="Bildobjekt 19">
            <a:extLst>
              <a:ext uri="{FF2B5EF4-FFF2-40B4-BE49-F238E27FC236}">
                <a16:creationId xmlns:a16="http://schemas.microsoft.com/office/drawing/2014/main" id="{050D8F6E-0B79-E2EF-FCFC-353CDB566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592430" y="664363"/>
            <a:ext cx="800411" cy="1538287"/>
          </a:xfrm>
          <a:prstGeom prst="rect">
            <a:avLst/>
          </a:prstGeom>
        </p:spPr>
      </p:pic>
      <p:pic>
        <p:nvPicPr>
          <p:cNvPr id="21" name="Bildobjekt 20">
            <a:extLst>
              <a:ext uri="{FF2B5EF4-FFF2-40B4-BE49-F238E27FC236}">
                <a16:creationId xmlns:a16="http://schemas.microsoft.com/office/drawing/2014/main" id="{DCA2722B-4513-C95B-5E75-323756965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745385" y="800064"/>
            <a:ext cx="800411" cy="1538287"/>
          </a:xfrm>
          <a:prstGeom prst="rect">
            <a:avLst/>
          </a:prstGeom>
        </p:spPr>
      </p:pic>
      <p:pic>
        <p:nvPicPr>
          <p:cNvPr id="22" name="Bildobjekt 21">
            <a:extLst>
              <a:ext uri="{FF2B5EF4-FFF2-40B4-BE49-F238E27FC236}">
                <a16:creationId xmlns:a16="http://schemas.microsoft.com/office/drawing/2014/main" id="{84EE33F8-AC98-9335-58DD-B4A941DC4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844211" y="950250"/>
            <a:ext cx="800411" cy="1538287"/>
          </a:xfrm>
          <a:prstGeom prst="rect">
            <a:avLst/>
          </a:prstGeom>
        </p:spPr>
      </p:pic>
      <p:pic>
        <p:nvPicPr>
          <p:cNvPr id="23" name="Bildobjekt 22">
            <a:extLst>
              <a:ext uri="{FF2B5EF4-FFF2-40B4-BE49-F238E27FC236}">
                <a16:creationId xmlns:a16="http://schemas.microsoft.com/office/drawing/2014/main" id="{7F1F537A-2A4C-68BA-9DFB-D4591030C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3982996" y="1114423"/>
            <a:ext cx="800411" cy="1538287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77D436F-260D-610A-B206-0A7792D65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4" r="2700"/>
          <a:stretch>
            <a:fillRect/>
          </a:stretch>
        </p:blipFill>
        <p:spPr bwMode="auto">
          <a:xfrm>
            <a:off x="8218043" y="435766"/>
            <a:ext cx="3522915" cy="264795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ruta 26">
            <a:extLst>
              <a:ext uri="{FF2B5EF4-FFF2-40B4-BE49-F238E27FC236}">
                <a16:creationId xmlns:a16="http://schemas.microsoft.com/office/drawing/2014/main" id="{7F7A0355-3DAC-E9B9-CB59-58883EDC7DC4}"/>
              </a:ext>
            </a:extLst>
          </p:cNvPr>
          <p:cNvSpPr txBox="1"/>
          <p:nvPr/>
        </p:nvSpPr>
        <p:spPr>
          <a:xfrm>
            <a:off x="704197" y="5766957"/>
            <a:ext cx="357447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v-SE" sz="3200">
                <a:latin typeface="Grandview Display"/>
              </a:rPr>
              <a:t>Låg Learning Rate</a:t>
            </a:r>
          </a:p>
        </p:txBody>
      </p:sp>
      <p:pic>
        <p:nvPicPr>
          <p:cNvPr id="24" name="Bildobjekt 23">
            <a:extLst>
              <a:ext uri="{FF2B5EF4-FFF2-40B4-BE49-F238E27FC236}">
                <a16:creationId xmlns:a16="http://schemas.microsoft.com/office/drawing/2014/main" id="{2C1A0ED4-9CD5-0ED7-2547-7BBEDFF40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4079027" y="1249940"/>
            <a:ext cx="800411" cy="1538287"/>
          </a:xfrm>
          <a:prstGeom prst="rect">
            <a:avLst/>
          </a:prstGeom>
        </p:spPr>
      </p:pic>
      <p:pic>
        <p:nvPicPr>
          <p:cNvPr id="25" name="Bildobjekt 24">
            <a:extLst>
              <a:ext uri="{FF2B5EF4-FFF2-40B4-BE49-F238E27FC236}">
                <a16:creationId xmlns:a16="http://schemas.microsoft.com/office/drawing/2014/main" id="{9835DCED-76A1-F0CB-A7AC-5AFC78049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613" y1="67621" x2="53613" y2="67621"/>
                        <a14:foregroundMark x1="51855" y1="73703" x2="51855" y2="73703"/>
                      </a14:backgroundRemoval>
                    </a14:imgEffect>
                  </a14:imgLayer>
                </a14:imgProps>
              </a:ext>
            </a:extLst>
          </a:blip>
          <a:srcRect l="35449" t="2604" r="36886"/>
          <a:stretch>
            <a:fillRect/>
          </a:stretch>
        </p:blipFill>
        <p:spPr>
          <a:xfrm>
            <a:off x="4121781" y="1422683"/>
            <a:ext cx="800411" cy="153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3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8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8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9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9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1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1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12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12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14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14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D1C6521A-372F-743E-368F-A83D34357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314325"/>
            <a:ext cx="11164661" cy="6229350"/>
          </a:xfrm>
          <a:prstGeom prst="rect">
            <a:avLst/>
          </a:prstGeom>
        </p:spPr>
      </p:pic>
      <p:sp>
        <p:nvSpPr>
          <p:cNvPr id="3" name="Multiplikationstecken 2">
            <a:extLst>
              <a:ext uri="{FF2B5EF4-FFF2-40B4-BE49-F238E27FC236}">
                <a16:creationId xmlns:a16="http://schemas.microsoft.com/office/drawing/2014/main" id="{A71006CD-9527-487F-E26C-F498547C53EE}"/>
              </a:ext>
            </a:extLst>
          </p:cNvPr>
          <p:cNvSpPr/>
          <p:nvPr/>
        </p:nvSpPr>
        <p:spPr>
          <a:xfrm>
            <a:off x="6094922" y="4281608"/>
            <a:ext cx="647285" cy="602911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rgbClr val="000000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88EE7028-C881-C1CF-FA8D-F1FB52AD6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918" y1="86225" x2="40918" y2="86225"/>
                        <a14:foregroundMark x1="58594" y1="89088" x2="58594" y2="89088"/>
                      </a14:backgroundRemoval>
                    </a14:imgEffect>
                  </a14:imgLayer>
                </a14:imgProps>
              </a:ext>
            </a:extLst>
          </a:blip>
          <a:srcRect l="35511" t="7284" r="36553" b="3726"/>
          <a:stretch>
            <a:fillRect/>
          </a:stretch>
        </p:blipFill>
        <p:spPr>
          <a:xfrm>
            <a:off x="1496291" y="133350"/>
            <a:ext cx="903543" cy="1571246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50A79B2C-D1EB-08B4-BE64-F09FE128D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918" y1="86225" x2="40918" y2="86225"/>
                        <a14:foregroundMark x1="58594" y1="89088" x2="58594" y2="89088"/>
                      </a14:backgroundRemoval>
                    </a14:imgEffect>
                  </a14:imgLayer>
                </a14:imgProps>
              </a:ext>
            </a:extLst>
          </a:blip>
          <a:srcRect l="35511" t="7284" r="36553" b="3726"/>
          <a:stretch>
            <a:fillRect/>
          </a:stretch>
        </p:blipFill>
        <p:spPr>
          <a:xfrm rot="677082">
            <a:off x="2442600" y="204355"/>
            <a:ext cx="903543" cy="1571246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0CE269B5-D863-AB7E-3284-39D5DC370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918" y1="86225" x2="40918" y2="86225"/>
                        <a14:foregroundMark x1="58594" y1="89088" x2="58594" y2="89088"/>
                      </a14:backgroundRemoval>
                    </a14:imgEffect>
                  </a14:imgLayer>
                </a14:imgProps>
              </a:ext>
            </a:extLst>
          </a:blip>
          <a:srcRect l="35511" t="7284" r="36553" b="3726"/>
          <a:stretch>
            <a:fillRect/>
          </a:stretch>
        </p:blipFill>
        <p:spPr>
          <a:xfrm rot="1920000">
            <a:off x="3387624" y="433198"/>
            <a:ext cx="903543" cy="1571246"/>
          </a:xfrm>
          <a:prstGeom prst="rect">
            <a:avLst/>
          </a:prstGeom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42E5CF5F-E626-0D70-6D85-BAFB8C66D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918" y1="86225" x2="40918" y2="86225"/>
                        <a14:foregroundMark x1="58594" y1="89088" x2="58594" y2="89088"/>
                      </a14:backgroundRemoval>
                    </a14:imgEffect>
                  </a14:imgLayer>
                </a14:imgProps>
              </a:ext>
            </a:extLst>
          </a:blip>
          <a:srcRect l="35511" t="7284" r="36553" b="3726"/>
          <a:stretch>
            <a:fillRect/>
          </a:stretch>
        </p:blipFill>
        <p:spPr>
          <a:xfrm rot="2272013">
            <a:off x="4025073" y="988246"/>
            <a:ext cx="903543" cy="1571246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0A640530-02F4-0FD0-C3E6-B0F3536C9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918" y1="86225" x2="40918" y2="86225"/>
                        <a14:foregroundMark x1="58594" y1="89088" x2="58594" y2="89088"/>
                      </a14:backgroundRemoval>
                    </a14:imgEffect>
                  </a14:imgLayer>
                </a14:imgProps>
              </a:ext>
            </a:extLst>
          </a:blip>
          <a:srcRect l="35511" t="7284" r="36553" b="3726"/>
          <a:stretch>
            <a:fillRect/>
          </a:stretch>
        </p:blipFill>
        <p:spPr>
          <a:xfrm rot="3180000">
            <a:off x="4600484" y="1753923"/>
            <a:ext cx="903543" cy="1571246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2F2CE3C5-E395-1CEF-11BB-C3A4377A1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918" y1="86225" x2="40918" y2="86225"/>
                        <a14:foregroundMark x1="58594" y1="89088" x2="58594" y2="89088"/>
                      </a14:backgroundRemoval>
                    </a14:imgEffect>
                  </a14:imgLayer>
                </a14:imgProps>
              </a:ext>
            </a:extLst>
          </a:blip>
          <a:srcRect l="35511" t="7284" r="36553" b="3726"/>
          <a:stretch>
            <a:fillRect/>
          </a:stretch>
        </p:blipFill>
        <p:spPr>
          <a:xfrm rot="2607849">
            <a:off x="5010774" y="2260759"/>
            <a:ext cx="903543" cy="1571246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1FF058F7-491E-C8E7-B99B-88F88BBDE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918" y1="86225" x2="40918" y2="86225"/>
                        <a14:foregroundMark x1="58594" y1="89088" x2="58594" y2="89088"/>
                      </a14:backgroundRemoval>
                    </a14:imgEffect>
                  </a14:imgLayer>
                </a14:imgProps>
              </a:ext>
            </a:extLst>
          </a:blip>
          <a:srcRect l="35511" t="7284" r="36553" b="3726"/>
          <a:stretch>
            <a:fillRect/>
          </a:stretch>
        </p:blipFill>
        <p:spPr>
          <a:xfrm rot="2600823">
            <a:off x="5378943" y="2750013"/>
            <a:ext cx="903543" cy="1571246"/>
          </a:xfrm>
          <a:prstGeom prst="rect">
            <a:avLst/>
          </a:prstGeom>
        </p:spPr>
      </p:pic>
      <p:pic>
        <p:nvPicPr>
          <p:cNvPr id="3074" name="Picture 2" descr="Star golden color background png image - PNGArc">
            <a:extLst>
              <a:ext uri="{FF2B5EF4-FFF2-40B4-BE49-F238E27FC236}">
                <a16:creationId xmlns:a16="http://schemas.microsoft.com/office/drawing/2014/main" id="{6668C103-7650-C7D8-AF26-62DD01528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4435">
            <a:off x="5231206" y="1086967"/>
            <a:ext cx="2374715" cy="33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ruta 12">
            <a:extLst>
              <a:ext uri="{FF2B5EF4-FFF2-40B4-BE49-F238E27FC236}">
                <a16:creationId xmlns:a16="http://schemas.microsoft.com/office/drawing/2014/main" id="{B354603F-FDCB-3736-C546-77DCFB032328}"/>
              </a:ext>
            </a:extLst>
          </p:cNvPr>
          <p:cNvSpPr txBox="1"/>
          <p:nvPr/>
        </p:nvSpPr>
        <p:spPr>
          <a:xfrm>
            <a:off x="808972" y="5871732"/>
            <a:ext cx="416019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v-SE" sz="3200">
                <a:latin typeface="Grandview Display"/>
              </a:rPr>
              <a:t>Lagom Learning Rate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ABD377B-E5A9-9763-F6EA-EBEFE1314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918" y1="86225" x2="40918" y2="86225"/>
                        <a14:foregroundMark x1="58594" y1="89088" x2="58594" y2="89088"/>
                      </a14:backgroundRemoval>
                    </a14:imgEffect>
                  </a14:imgLayer>
                </a14:imgProps>
              </a:ext>
            </a:extLst>
          </a:blip>
          <a:srcRect l="35511" t="7284" r="36553" b="3726"/>
          <a:stretch>
            <a:fillRect/>
          </a:stretch>
        </p:blipFill>
        <p:spPr>
          <a:xfrm rot="1120024">
            <a:off x="5885714" y="3068882"/>
            <a:ext cx="903543" cy="157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1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9F0-C33E-E0D2-952A-A4F21D22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8E33695-7503-18B0-BDAA-47D74D206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latin typeface="Grandview Display"/>
              </a:rPr>
              <a:t>Optimerare – Modellens coach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0B4DF871-58DC-7713-8FA8-BC073BEA914F}"/>
              </a:ext>
            </a:extLst>
          </p:cNvPr>
          <p:cNvSpPr txBox="1"/>
          <p:nvPr/>
        </p:nvSpPr>
        <p:spPr>
          <a:xfrm>
            <a:off x="486192" y="5295145"/>
            <a:ext cx="3605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Tar steg baserat på aktuell gradient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Tar inte hänsyn till tidigare steg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Gör inga smarta justeringar</a:t>
            </a: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6A813F92-66A1-49F4-9ADA-B80B0AA9B290}"/>
              </a:ext>
            </a:extLst>
          </p:cNvPr>
          <p:cNvSpPr txBox="1"/>
          <p:nvPr/>
        </p:nvSpPr>
        <p:spPr>
          <a:xfrm>
            <a:off x="4722192" y="5295144"/>
            <a:ext cx="338281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Anpassar steglängden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Tar mindre steg där det är “risk”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Snabbare än SGD</a:t>
            </a:r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23412C96-6F13-B56C-9A57-6969D896D9BE}"/>
              </a:ext>
            </a:extLst>
          </p:cNvPr>
          <p:cNvSpPr txBox="1"/>
          <p:nvPr/>
        </p:nvSpPr>
        <p:spPr>
          <a:xfrm>
            <a:off x="8780295" y="5294209"/>
            <a:ext cx="33828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Väldigt snabb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Minns riktning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Ändrar steglängd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/>
              <a:t>Justerar sig själv hela tiden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678F4D2E-5DFD-AF7A-E6D9-F6FA8336B354}"/>
              </a:ext>
            </a:extLst>
          </p:cNvPr>
          <p:cNvSpPr txBox="1"/>
          <p:nvPr/>
        </p:nvSpPr>
        <p:spPr>
          <a:xfrm>
            <a:off x="862445" y="1635621"/>
            <a:ext cx="241300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000" b="1"/>
              <a:t>SGD</a:t>
            </a:r>
            <a:r>
              <a:rPr lang="sv-SE"/>
              <a:t> </a:t>
            </a:r>
          </a:p>
          <a:p>
            <a:pPr algn="ctr"/>
            <a:r>
              <a:rPr lang="sv-SE" sz="1400"/>
              <a:t>“den enkla coachen”</a:t>
            </a:r>
            <a:br>
              <a:rPr lang="sv-SE"/>
            </a:br>
            <a:endParaRPr lang="sv-SE"/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2EAD2A09-597D-2B8E-77BF-A884F88E81F9}"/>
              </a:ext>
            </a:extLst>
          </p:cNvPr>
          <p:cNvSpPr txBox="1"/>
          <p:nvPr/>
        </p:nvSpPr>
        <p:spPr>
          <a:xfrm>
            <a:off x="4479720" y="1635621"/>
            <a:ext cx="3232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sv-SE"/>
            </a:defPPr>
            <a:lvl1pPr algn="ctr">
              <a:defRPr sz="2000" b="1"/>
            </a:lvl1pPr>
          </a:lstStyle>
          <a:p>
            <a:r>
              <a:rPr lang="sv-SE" err="1"/>
              <a:t>RMSprop</a:t>
            </a:r>
            <a:r>
              <a:rPr lang="sv-SE"/>
              <a:t> </a:t>
            </a:r>
          </a:p>
          <a:p>
            <a:r>
              <a:rPr lang="sv-SE" sz="1400" b="0"/>
              <a:t>“den försiktiga smarta coachen”</a:t>
            </a:r>
            <a:br>
              <a:rPr lang="sv-SE" b="0"/>
            </a:br>
            <a:endParaRPr lang="sv-SE" b="0"/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23646AEC-D489-F23C-C4AA-20EF58AF51B4}"/>
              </a:ext>
            </a:extLst>
          </p:cNvPr>
          <p:cNvSpPr txBox="1"/>
          <p:nvPr/>
        </p:nvSpPr>
        <p:spPr>
          <a:xfrm>
            <a:off x="8100333" y="1635621"/>
            <a:ext cx="338281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000" b="1"/>
              <a:t>Adam </a:t>
            </a:r>
          </a:p>
          <a:p>
            <a:pPr algn="ctr"/>
            <a:r>
              <a:rPr lang="sv-SE" sz="1400"/>
              <a:t>“den superintelligenta coachen”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82B9DA-E387-D8EA-3E08-7CD0A7FB5902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59D2F73-ADC2-6A45-9957-C5E618B05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3" y="2371725"/>
            <a:ext cx="2543175" cy="2647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D7541D-46B4-189A-559F-164F207EB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13" y="2366963"/>
            <a:ext cx="1857375" cy="2647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77485F-C1CF-E2E4-6237-5D54A8165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450" y="2386013"/>
            <a:ext cx="2486025" cy="2771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98CE4B-6340-94E4-C601-468A37AF95CE}"/>
              </a:ext>
            </a:extLst>
          </p:cNvPr>
          <p:cNvSpPr txBox="1"/>
          <p:nvPr/>
        </p:nvSpPr>
        <p:spPr>
          <a:xfrm>
            <a:off x="14435" y="14435"/>
            <a:ext cx="13280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Alma</a:t>
            </a:r>
          </a:p>
        </p:txBody>
      </p:sp>
    </p:spTree>
    <p:extLst>
      <p:ext uri="{BB962C8B-B14F-4D97-AF65-F5344CB8AC3E}">
        <p14:creationId xmlns:p14="http://schemas.microsoft.com/office/powerpoint/2010/main" val="170673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84F34-1B85-A87D-1A80-FEBE3BA0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Grandview Display"/>
              </a:rPr>
              <a:t>Våra</a:t>
            </a:r>
            <a:r>
              <a:rPr lang="en-US">
                <a:latin typeface="Grandview Display"/>
              </a:rPr>
              <a:t> experiment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1C400-C5FE-2232-4A7D-E4D99D908D5C}"/>
              </a:ext>
            </a:extLst>
          </p:cNvPr>
          <p:cNvSpPr txBox="1"/>
          <p:nvPr/>
        </p:nvSpPr>
        <p:spPr>
          <a:xfrm>
            <a:off x="668294" y="1466422"/>
            <a:ext cx="1146058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ea typeface="+mn-lt"/>
              <a:cs typeface="+mn-lt"/>
            </a:endParaRPr>
          </a:p>
          <a:p>
            <a:r>
              <a:rPr lang="en-US"/>
              <a:t>Vi </a:t>
            </a:r>
            <a:r>
              <a:rPr lang="en-US" err="1"/>
              <a:t>testar</a:t>
            </a:r>
            <a:r>
              <a:rPr lang="en-US"/>
              <a:t> </a:t>
            </a:r>
            <a:r>
              <a:rPr lang="en-US" err="1"/>
              <a:t>våra</a:t>
            </a:r>
            <a:r>
              <a:rPr lang="en-US"/>
              <a:t> </a:t>
            </a:r>
            <a:r>
              <a:rPr lang="en-US" err="1"/>
              <a:t>tre</a:t>
            </a:r>
            <a:r>
              <a:rPr lang="en-US"/>
              <a:t> </a:t>
            </a:r>
            <a:r>
              <a:rPr lang="en-US" err="1"/>
              <a:t>optimerare</a:t>
            </a:r>
            <a:r>
              <a:rPr lang="en-US"/>
              <a:t> för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undersöka</a:t>
            </a:r>
            <a:r>
              <a:rPr lang="en-US"/>
              <a:t> </a:t>
            </a:r>
            <a:r>
              <a:rPr lang="en-US" err="1"/>
              <a:t>hur</a:t>
            </a:r>
            <a:r>
              <a:rPr lang="en-US"/>
              <a:t> learning rate och </a:t>
            </a:r>
            <a:r>
              <a:rPr lang="en-US" err="1"/>
              <a:t>optimerare</a:t>
            </a:r>
            <a:r>
              <a:rPr lang="en-US"/>
              <a:t> </a:t>
            </a:r>
            <a:r>
              <a:rPr lang="en-US" err="1"/>
              <a:t>påverkar</a:t>
            </a:r>
            <a:r>
              <a:rPr lang="en-US"/>
              <a:t> </a:t>
            </a:r>
            <a:r>
              <a:rPr lang="en-US" err="1"/>
              <a:t>modellens</a:t>
            </a:r>
            <a:r>
              <a:rPr lang="en-US"/>
              <a:t> </a:t>
            </a:r>
            <a:r>
              <a:rPr lang="en-US" err="1"/>
              <a:t>träning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     </a:t>
            </a:r>
            <a:r>
              <a:rPr lang="en-US" b="1"/>
              <a:t> Tre </a:t>
            </a:r>
            <a:r>
              <a:rPr lang="en-US" b="1" err="1"/>
              <a:t>olika</a:t>
            </a:r>
            <a:r>
              <a:rPr lang="en-US" b="1"/>
              <a:t> learning rates </a:t>
            </a:r>
            <a:r>
              <a:rPr lang="en-US"/>
              <a:t>             </a:t>
            </a:r>
            <a:r>
              <a:rPr lang="en-US" b="1"/>
              <a:t>Vi </a:t>
            </a:r>
            <a:r>
              <a:rPr lang="en-US" b="1" err="1"/>
              <a:t>jämförde</a:t>
            </a:r>
            <a:r>
              <a:rPr lang="en-US" b="1"/>
              <a:t> sedan</a:t>
            </a:r>
          </a:p>
          <a:p>
            <a:endParaRPr lang="en-US"/>
          </a:p>
          <a:p>
            <a:r>
              <a:rPr lang="en-US"/>
              <a:t>                      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9685ED-AD0D-7ADB-BDE9-E160A501CEA6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5A50C5-C092-0183-91C8-FEA6D307B43F}"/>
              </a:ext>
            </a:extLst>
          </p:cNvPr>
          <p:cNvSpPr txBox="1"/>
          <p:nvPr/>
        </p:nvSpPr>
        <p:spPr>
          <a:xfrm>
            <a:off x="540190" y="3429696"/>
            <a:ext cx="651675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0.0001  </a:t>
            </a:r>
            <a:r>
              <a:rPr lang="en-US" err="1"/>
              <a:t>Låg</a:t>
            </a:r>
            <a:r>
              <a:rPr lang="en-US"/>
              <a:t> learning rate – </a:t>
            </a:r>
            <a:r>
              <a:rPr lang="en-US" err="1"/>
              <a:t>stabil</a:t>
            </a:r>
            <a:r>
              <a:rPr lang="en-US"/>
              <a:t> </a:t>
            </a:r>
          </a:p>
          <a:p>
            <a:r>
              <a:rPr lang="en-US"/>
              <a:t>     </a:t>
            </a:r>
            <a:r>
              <a:rPr lang="en-US" err="1"/>
              <a:t>träning</a:t>
            </a:r>
            <a:r>
              <a:rPr lang="en-US"/>
              <a:t> men </a:t>
            </a:r>
            <a:r>
              <a:rPr lang="en-US" err="1"/>
              <a:t>långsam</a:t>
            </a:r>
            <a:r>
              <a:rPr lang="en-US"/>
              <a:t> </a:t>
            </a:r>
            <a:r>
              <a:rPr lang="en-US" err="1"/>
              <a:t>konvergens</a:t>
            </a:r>
            <a:endParaRPr lang="en-US"/>
          </a:p>
          <a:p>
            <a:endParaRPr lang="en-US"/>
          </a:p>
          <a:p>
            <a:r>
              <a:rPr lang="en-US"/>
              <a:t>0.001     </a:t>
            </a:r>
            <a:r>
              <a:rPr lang="en-US" err="1"/>
              <a:t>Medelnivå</a:t>
            </a:r>
            <a:r>
              <a:rPr lang="en-US"/>
              <a:t> - </a:t>
            </a:r>
            <a:r>
              <a:rPr lang="en-US" err="1"/>
              <a:t>balans</a:t>
            </a:r>
            <a:r>
              <a:rPr lang="en-US"/>
              <a:t> </a:t>
            </a:r>
            <a:r>
              <a:rPr lang="en-US" err="1"/>
              <a:t>mellan</a:t>
            </a:r>
            <a:r>
              <a:rPr lang="en-US"/>
              <a:t> </a:t>
            </a:r>
            <a:r>
              <a:rPr lang="en-US" err="1"/>
              <a:t>stabilitet</a:t>
            </a:r>
            <a:r>
              <a:rPr lang="en-US"/>
              <a:t> och </a:t>
            </a:r>
          </a:p>
          <a:p>
            <a:r>
              <a:rPr lang="en-US"/>
              <a:t>     </a:t>
            </a:r>
            <a:r>
              <a:rPr lang="en-US" err="1"/>
              <a:t>snabb</a:t>
            </a:r>
            <a:r>
              <a:rPr lang="en-US"/>
              <a:t> </a:t>
            </a:r>
            <a:r>
              <a:rPr lang="en-US" err="1"/>
              <a:t>inlärning</a:t>
            </a:r>
            <a:endParaRPr lang="en-US"/>
          </a:p>
          <a:p>
            <a:endParaRPr lang="en-US"/>
          </a:p>
          <a:p>
            <a:r>
              <a:rPr lang="en-US"/>
              <a:t>0.01   </a:t>
            </a:r>
            <a:r>
              <a:rPr lang="en-US" err="1"/>
              <a:t>Hög</a:t>
            </a:r>
            <a:r>
              <a:rPr lang="en-US"/>
              <a:t> </a:t>
            </a:r>
            <a:r>
              <a:rPr lang="en-US" err="1"/>
              <a:t>learnin</a:t>
            </a:r>
            <a:r>
              <a:rPr lang="en-US"/>
              <a:t>g rate – </a:t>
            </a:r>
            <a:r>
              <a:rPr lang="en-US" err="1"/>
              <a:t>snabbare</a:t>
            </a:r>
            <a:r>
              <a:rPr lang="en-US"/>
              <a:t> </a:t>
            </a:r>
            <a:r>
              <a:rPr lang="en-US" err="1"/>
              <a:t>inlärning</a:t>
            </a:r>
            <a:r>
              <a:rPr lang="en-US"/>
              <a:t> men</a:t>
            </a:r>
          </a:p>
          <a:p>
            <a:r>
              <a:rPr lang="en-US"/>
              <a:t>     risk för </a:t>
            </a:r>
            <a:r>
              <a:rPr lang="en-US" err="1"/>
              <a:t>instabil</a:t>
            </a:r>
            <a:r>
              <a:rPr lang="en-US"/>
              <a:t> </a:t>
            </a:r>
            <a:r>
              <a:rPr lang="en-US" err="1"/>
              <a:t>träning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ACD83-2628-E9FB-528A-3AEC69EA36D6}"/>
              </a:ext>
            </a:extLst>
          </p:cNvPr>
          <p:cNvSpPr txBox="1"/>
          <p:nvPr/>
        </p:nvSpPr>
        <p:spPr>
          <a:xfrm>
            <a:off x="6796872" y="3428787"/>
            <a:ext cx="534303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Accuracy    Hur </a:t>
            </a:r>
            <a:r>
              <a:rPr lang="en-US" err="1"/>
              <a:t>ofta</a:t>
            </a:r>
            <a:r>
              <a:rPr lang="en-US"/>
              <a:t> </a:t>
            </a:r>
            <a:r>
              <a:rPr lang="en-US" err="1"/>
              <a:t>modellen</a:t>
            </a:r>
            <a:r>
              <a:rPr lang="en-US"/>
              <a:t> </a:t>
            </a:r>
            <a:r>
              <a:rPr lang="en-US" err="1"/>
              <a:t>gör</a:t>
            </a:r>
            <a:r>
              <a:rPr lang="en-US"/>
              <a:t> </a:t>
            </a:r>
          </a:p>
          <a:p>
            <a:r>
              <a:rPr lang="en-US"/>
              <a:t>            </a:t>
            </a:r>
            <a:r>
              <a:rPr lang="en-US" err="1"/>
              <a:t>rätt</a:t>
            </a:r>
            <a:r>
              <a:rPr lang="en-US"/>
              <a:t> </a:t>
            </a:r>
            <a:r>
              <a:rPr lang="en-US" err="1"/>
              <a:t>prediktioner</a:t>
            </a:r>
            <a:endParaRPr lang="en-US"/>
          </a:p>
          <a:p>
            <a:endParaRPr lang="en-US"/>
          </a:p>
          <a:p>
            <a:r>
              <a:rPr lang="en-US"/>
              <a:t>Loss      Hur </a:t>
            </a:r>
            <a:r>
              <a:rPr lang="en-US" err="1"/>
              <a:t>stort</a:t>
            </a:r>
            <a:r>
              <a:rPr lang="en-US"/>
              <a:t> </a:t>
            </a:r>
            <a:r>
              <a:rPr lang="en-US" err="1"/>
              <a:t>felet</a:t>
            </a:r>
            <a:r>
              <a:rPr lang="en-US"/>
              <a:t> </a:t>
            </a:r>
            <a:r>
              <a:rPr lang="en-US" err="1"/>
              <a:t>är</a:t>
            </a:r>
            <a:r>
              <a:rPr lang="en-US"/>
              <a:t> 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modellens</a:t>
            </a:r>
            <a:endParaRPr lang="en-US"/>
          </a:p>
          <a:p>
            <a:r>
              <a:rPr lang="en-US"/>
              <a:t>            </a:t>
            </a:r>
            <a:r>
              <a:rPr lang="en-US" err="1"/>
              <a:t>prediktioner</a:t>
            </a:r>
          </a:p>
          <a:p>
            <a:endParaRPr lang="en-US"/>
          </a:p>
          <a:p>
            <a:r>
              <a:rPr lang="en-US" err="1"/>
              <a:t>Stabilitet</a:t>
            </a:r>
            <a:r>
              <a:rPr lang="en-US"/>
              <a:t>    Hur </a:t>
            </a:r>
            <a:r>
              <a:rPr lang="en-US" err="1"/>
              <a:t>jämn</a:t>
            </a:r>
            <a:r>
              <a:rPr lang="en-US"/>
              <a:t> och </a:t>
            </a:r>
            <a:r>
              <a:rPr lang="en-US" err="1"/>
              <a:t>stabil</a:t>
            </a:r>
            <a:r>
              <a:rPr lang="en-US"/>
              <a:t> </a:t>
            </a:r>
            <a:r>
              <a:rPr lang="en-US" err="1"/>
              <a:t>träningen</a:t>
            </a:r>
            <a:r>
              <a:rPr lang="en-US"/>
              <a:t> </a:t>
            </a:r>
          </a:p>
          <a:p>
            <a:r>
              <a:rPr lang="en-US"/>
              <a:t>           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över</a:t>
            </a:r>
            <a:r>
              <a:rPr lang="en-US"/>
              <a:t> </a:t>
            </a:r>
            <a:r>
              <a:rPr lang="en-US" err="1"/>
              <a:t>tid</a:t>
            </a:r>
            <a:endParaRPr lang="en-US"/>
          </a:p>
          <a:p>
            <a:endParaRPr lang="en-US"/>
          </a:p>
          <a:p>
            <a:r>
              <a:rPr lang="en-US" err="1"/>
              <a:t>Träningstid</a:t>
            </a:r>
            <a:r>
              <a:rPr lang="en-US"/>
              <a:t>    Hur </a:t>
            </a:r>
            <a:r>
              <a:rPr lang="en-US" err="1"/>
              <a:t>lång</a:t>
            </a:r>
            <a:r>
              <a:rPr lang="en-US"/>
              <a:t> </a:t>
            </a:r>
            <a:r>
              <a:rPr lang="en-US" err="1"/>
              <a:t>tid</a:t>
            </a:r>
            <a:r>
              <a:rPr lang="en-US"/>
              <a:t> </a:t>
            </a:r>
            <a:r>
              <a:rPr lang="en-US" err="1"/>
              <a:t>träningen</a:t>
            </a:r>
            <a:r>
              <a:rPr lang="en-US"/>
              <a:t> tar </a:t>
            </a:r>
            <a:r>
              <a:rPr lang="en-US" err="1"/>
              <a:t>att</a:t>
            </a:r>
            <a:r>
              <a:rPr lang="en-US"/>
              <a:t> </a:t>
            </a:r>
          </a:p>
          <a:p>
            <a:r>
              <a:rPr lang="en-US"/>
              <a:t>           </a:t>
            </a:r>
            <a:r>
              <a:rPr lang="en-US" err="1"/>
              <a:t>köra</a:t>
            </a:r>
            <a:r>
              <a:rPr lang="en-US"/>
              <a:t> </a:t>
            </a:r>
            <a:r>
              <a:rPr lang="en-US" err="1"/>
              <a:t>klart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56E8C-E02A-ABC9-118E-EE2251A3A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290" y="3433260"/>
            <a:ext cx="403059" cy="3243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7AFF43-BCFB-B74D-8C94-A70245B6F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219575"/>
            <a:ext cx="428625" cy="361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C33D15-6445-98F1-0B84-918E4A63B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613" y="5086350"/>
            <a:ext cx="352425" cy="333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C563D-E460-0162-DFF2-609143312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5943600"/>
            <a:ext cx="323850" cy="2571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303B20-B541-ED1F-B1A7-C137E0EAA302}"/>
              </a:ext>
            </a:extLst>
          </p:cNvPr>
          <p:cNvSpPr txBox="1"/>
          <p:nvPr/>
        </p:nvSpPr>
        <p:spPr>
          <a:xfrm>
            <a:off x="14435" y="-1976"/>
            <a:ext cx="15445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Alma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28067D-FA6B-5636-36DD-351FAAF0D5EA}"/>
              </a:ext>
            </a:extLst>
          </p:cNvPr>
          <p:cNvCxnSpPr/>
          <p:nvPr/>
        </p:nvCxnSpPr>
        <p:spPr>
          <a:xfrm flipV="1">
            <a:off x="1994648" y="2868705"/>
            <a:ext cx="2586316" cy="11206"/>
          </a:xfrm>
          <a:prstGeom prst="straightConnector1">
            <a:avLst/>
          </a:prstGeom>
          <a:ln>
            <a:solidFill>
              <a:srgbClr val="968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75677A-8192-C548-7ABB-9DDBAB547362}"/>
              </a:ext>
            </a:extLst>
          </p:cNvPr>
          <p:cNvCxnSpPr/>
          <p:nvPr/>
        </p:nvCxnSpPr>
        <p:spPr>
          <a:xfrm>
            <a:off x="7575176" y="2868705"/>
            <a:ext cx="2095499" cy="11205"/>
          </a:xfrm>
          <a:prstGeom prst="straightConnector1">
            <a:avLst/>
          </a:prstGeom>
          <a:ln>
            <a:solidFill>
              <a:srgbClr val="968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F5C547-9921-0EF3-A9A7-104A31C1DD54}"/>
              </a:ext>
            </a:extLst>
          </p:cNvPr>
          <p:cNvCxnSpPr/>
          <p:nvPr/>
        </p:nvCxnSpPr>
        <p:spPr>
          <a:xfrm>
            <a:off x="1512794" y="3426758"/>
            <a:ext cx="2241" cy="457199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6B6202-C2FB-BDA8-95F9-953B12B862C9}"/>
              </a:ext>
            </a:extLst>
          </p:cNvPr>
          <p:cNvCxnSpPr>
            <a:cxnSpLocks/>
          </p:cNvCxnSpPr>
          <p:nvPr/>
        </p:nvCxnSpPr>
        <p:spPr>
          <a:xfrm>
            <a:off x="1512794" y="4215652"/>
            <a:ext cx="2241" cy="457199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CA02C1-F1F7-CDD7-7EA0-F04D6EF102FE}"/>
              </a:ext>
            </a:extLst>
          </p:cNvPr>
          <p:cNvCxnSpPr>
            <a:cxnSpLocks/>
          </p:cNvCxnSpPr>
          <p:nvPr/>
        </p:nvCxnSpPr>
        <p:spPr>
          <a:xfrm>
            <a:off x="1512793" y="5085228"/>
            <a:ext cx="2241" cy="457199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666E96-0887-EADD-D628-DF483FC1F315}"/>
              </a:ext>
            </a:extLst>
          </p:cNvPr>
          <p:cNvCxnSpPr>
            <a:cxnSpLocks/>
          </p:cNvCxnSpPr>
          <p:nvPr/>
        </p:nvCxnSpPr>
        <p:spPr>
          <a:xfrm>
            <a:off x="8245287" y="3426757"/>
            <a:ext cx="2241" cy="457199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6A7119-743A-F6BB-6486-B1BBAA2C7801}"/>
              </a:ext>
            </a:extLst>
          </p:cNvPr>
          <p:cNvCxnSpPr>
            <a:cxnSpLocks/>
          </p:cNvCxnSpPr>
          <p:nvPr/>
        </p:nvCxnSpPr>
        <p:spPr>
          <a:xfrm>
            <a:off x="8245288" y="4215652"/>
            <a:ext cx="2241" cy="457199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DC10C9-A579-EF89-2C79-8767D28207F8}"/>
              </a:ext>
            </a:extLst>
          </p:cNvPr>
          <p:cNvCxnSpPr>
            <a:cxnSpLocks/>
          </p:cNvCxnSpPr>
          <p:nvPr/>
        </p:nvCxnSpPr>
        <p:spPr>
          <a:xfrm>
            <a:off x="8245288" y="5031440"/>
            <a:ext cx="2241" cy="457199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ADF201-83DA-A5F7-219E-9E6F63A7FCA4}"/>
              </a:ext>
            </a:extLst>
          </p:cNvPr>
          <p:cNvCxnSpPr>
            <a:cxnSpLocks/>
          </p:cNvCxnSpPr>
          <p:nvPr/>
        </p:nvCxnSpPr>
        <p:spPr>
          <a:xfrm>
            <a:off x="8245287" y="5847228"/>
            <a:ext cx="2241" cy="457199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056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C5093-8357-9EB3-92DF-FA375439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4">
            <a:extLst>
              <a:ext uri="{FF2B5EF4-FFF2-40B4-BE49-F238E27FC236}">
                <a16:creationId xmlns:a16="http://schemas.microsoft.com/office/drawing/2014/main" id="{6D7A81A1-15EF-CB1C-0E97-8074C5C22F6E}"/>
              </a:ext>
            </a:extLst>
          </p:cNvPr>
          <p:cNvSpPr txBox="1"/>
          <p:nvPr/>
        </p:nvSpPr>
        <p:spPr>
          <a:xfrm>
            <a:off x="1125453" y="1595186"/>
            <a:ext cx="38892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v-SE" b="1"/>
              <a:t>Om train/validation </a:t>
            </a:r>
            <a:r>
              <a:rPr lang="sv-SE" b="1" err="1"/>
              <a:t>följer</a:t>
            </a:r>
            <a:r>
              <a:rPr lang="sv-SE" b="1"/>
              <a:t> </a:t>
            </a:r>
            <a:r>
              <a:rPr lang="sv-SE" b="1" err="1"/>
              <a:t>varandra</a:t>
            </a:r>
            <a:r>
              <a:rPr lang="sv-SE" b="1"/>
              <a:t>:</a:t>
            </a:r>
            <a:endParaRPr lang="sv-SE"/>
          </a:p>
          <a:p>
            <a:r>
              <a:rPr lang="sv-SE" err="1"/>
              <a:t>modellen</a:t>
            </a:r>
            <a:r>
              <a:rPr lang="sv-SE"/>
              <a:t> </a:t>
            </a:r>
            <a:r>
              <a:rPr lang="sv-SE" err="1"/>
              <a:t>generaliserar</a:t>
            </a:r>
            <a:r>
              <a:rPr lang="sv-SE"/>
              <a:t> bra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56B4F-EE4C-20CB-E86B-49D4559EF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latin typeface="Grandview Display"/>
                <a:ea typeface="+mj-lt"/>
                <a:cs typeface="+mj-lt"/>
              </a:rPr>
              <a:t>Vad visar kurvorna?</a:t>
            </a:r>
            <a:endParaRPr lang="sv-SE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9A8E8FD-3294-9D07-5FBD-AE02B7168B74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11D8B42-832B-726F-44DC-17CC5D17CD36}"/>
              </a:ext>
            </a:extLst>
          </p:cNvPr>
          <p:cNvSpPr txBox="1"/>
          <p:nvPr/>
        </p:nvSpPr>
        <p:spPr>
          <a:xfrm>
            <a:off x="6717941" y="4262187"/>
            <a:ext cx="259581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v-SE" b="1"/>
              <a:t>Om </a:t>
            </a:r>
            <a:r>
              <a:rPr lang="sv-SE" b="1" err="1"/>
              <a:t>allt</a:t>
            </a:r>
            <a:r>
              <a:rPr lang="sv-SE" b="1"/>
              <a:t> </a:t>
            </a:r>
            <a:r>
              <a:rPr lang="sv-SE" b="1" err="1"/>
              <a:t>går</a:t>
            </a:r>
            <a:r>
              <a:rPr lang="sv-SE" b="1"/>
              <a:t> </a:t>
            </a:r>
            <a:r>
              <a:rPr lang="sv-SE" b="1" err="1"/>
              <a:t>långsamt</a:t>
            </a:r>
            <a:r>
              <a:rPr lang="sv-SE" b="1"/>
              <a:t>:</a:t>
            </a:r>
            <a:endParaRPr lang="sv-SE"/>
          </a:p>
          <a:p>
            <a:r>
              <a:rPr lang="sv-SE"/>
              <a:t>learning rate för </a:t>
            </a:r>
            <a:r>
              <a:rPr lang="sv-SE" err="1"/>
              <a:t>låg</a:t>
            </a:r>
            <a:r>
              <a:rPr lang="sv-SE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A22C4-F78A-FF03-D6B5-99E74E29A295}"/>
              </a:ext>
            </a:extLst>
          </p:cNvPr>
          <p:cNvSpPr txBox="1"/>
          <p:nvPr/>
        </p:nvSpPr>
        <p:spPr>
          <a:xfrm>
            <a:off x="3258" y="-5711"/>
            <a:ext cx="2482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Malin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47E37EF-DAB4-1198-B03C-13BBE0D00C01}"/>
              </a:ext>
            </a:extLst>
          </p:cNvPr>
          <p:cNvSpPr txBox="1"/>
          <p:nvPr/>
        </p:nvSpPr>
        <p:spPr>
          <a:xfrm>
            <a:off x="6717941" y="1595186"/>
            <a:ext cx="34079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v-SE" b="1"/>
              <a:t>Om validation loss </a:t>
            </a:r>
            <a:r>
              <a:rPr lang="sv-SE" b="1" err="1"/>
              <a:t>ökar</a:t>
            </a:r>
            <a:r>
              <a:rPr lang="sv-SE" b="1"/>
              <a:t>:</a:t>
            </a:r>
            <a:endParaRPr lang="sv-SE"/>
          </a:p>
          <a:p>
            <a:r>
              <a:rPr lang="en-US"/>
              <a:t>overfitting 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F67D25BB-123E-9DE0-B621-FBC72655321F}"/>
              </a:ext>
            </a:extLst>
          </p:cNvPr>
          <p:cNvSpPr txBox="1"/>
          <p:nvPr/>
        </p:nvSpPr>
        <p:spPr>
          <a:xfrm>
            <a:off x="1125453" y="4262187"/>
            <a:ext cx="247549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v-SE" b="1"/>
              <a:t>Om accuracy </a:t>
            </a:r>
            <a:r>
              <a:rPr lang="sv-SE" b="1" err="1"/>
              <a:t>hoppar</a:t>
            </a:r>
            <a:r>
              <a:rPr lang="sv-SE" b="1"/>
              <a:t>:</a:t>
            </a:r>
          </a:p>
          <a:p>
            <a:r>
              <a:rPr lang="sv-SE"/>
              <a:t>learning rate för </a:t>
            </a:r>
            <a:r>
              <a:rPr lang="sv-SE" err="1"/>
              <a:t>hög</a:t>
            </a:r>
            <a:r>
              <a:rPr lang="sv-SE"/>
              <a:t> </a:t>
            </a:r>
          </a:p>
        </p:txBody>
      </p:sp>
      <p:pic>
        <p:nvPicPr>
          <p:cNvPr id="12" name="Bildobjekt 11" descr="En bild som visar text, skärmbild, linje, diagram&#10;&#10;AI-genererat innehåll kan vara felaktigt.">
            <a:extLst>
              <a:ext uri="{FF2B5EF4-FFF2-40B4-BE49-F238E27FC236}">
                <a16:creationId xmlns:a16="http://schemas.microsoft.com/office/drawing/2014/main" id="{7B918B43-A89A-FAB8-472A-4BAC79311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53" y="2248401"/>
            <a:ext cx="3880185" cy="1719514"/>
          </a:xfrm>
          <a:prstGeom prst="rect">
            <a:avLst/>
          </a:prstGeom>
        </p:spPr>
      </p:pic>
      <p:pic>
        <p:nvPicPr>
          <p:cNvPr id="13" name="Bildobjekt 12" descr="En bild som visar text, linje, skärmbild, diagram&#10;&#10;AI-genererat innehåll kan vara felaktigt.">
            <a:extLst>
              <a:ext uri="{FF2B5EF4-FFF2-40B4-BE49-F238E27FC236}">
                <a16:creationId xmlns:a16="http://schemas.microsoft.com/office/drawing/2014/main" id="{A792496E-D806-F403-F60F-517FB0794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894" y="2248401"/>
            <a:ext cx="3657600" cy="1669382"/>
          </a:xfrm>
          <a:prstGeom prst="rect">
            <a:avLst/>
          </a:prstGeom>
        </p:spPr>
      </p:pic>
      <p:pic>
        <p:nvPicPr>
          <p:cNvPr id="14" name="Bildobjekt 13" descr="En bild som visar text, skärmbild, Teckensnitt, linje&#10;&#10;AI-genererat innehåll kan vara felaktigt.">
            <a:extLst>
              <a:ext uri="{FF2B5EF4-FFF2-40B4-BE49-F238E27FC236}">
                <a16:creationId xmlns:a16="http://schemas.microsoft.com/office/drawing/2014/main" id="{51D69F4F-E383-800D-1172-A935E5D0B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453" y="4914900"/>
            <a:ext cx="3838474" cy="1740568"/>
          </a:xfrm>
          <a:prstGeom prst="rect">
            <a:avLst/>
          </a:prstGeom>
        </p:spPr>
      </p:pic>
      <p:pic>
        <p:nvPicPr>
          <p:cNvPr id="15" name="Bildobjekt 14" descr="En bild som visar text, skärmbild, linje, Rektangel&#10;&#10;AI-genererat innehåll kan vara felaktigt.">
            <a:extLst>
              <a:ext uri="{FF2B5EF4-FFF2-40B4-BE49-F238E27FC236}">
                <a16:creationId xmlns:a16="http://schemas.microsoft.com/office/drawing/2014/main" id="{346FBF10-ACDC-E7C7-D45F-8ED021B1F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929" y="4923865"/>
            <a:ext cx="3660608" cy="17255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285E77B-A1F8-7841-71A1-BE266485EC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240000">
            <a:off x="4711856" y="2671481"/>
            <a:ext cx="867771" cy="8785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134049-692D-AAA0-A558-99FC5E25F9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6183" y="2653553"/>
            <a:ext cx="972643" cy="9054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117FE4-18F8-9B59-8358-75D01B1872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80000">
            <a:off x="9838556" y="5360894"/>
            <a:ext cx="923782" cy="8606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A6396F-B832-ECB4-A70F-C5526D8E2D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300000">
            <a:off x="4673739" y="5373391"/>
            <a:ext cx="943531" cy="85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71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D2E6-2BDB-48A9-4820-95F0148F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392A-0744-FBD5-72D6-3D907B96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8043"/>
            <a:ext cx="10515600" cy="1325563"/>
          </a:xfrm>
        </p:spPr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      SGD – </a:t>
            </a:r>
            <a:r>
              <a:rPr lang="en-US" err="1">
                <a:latin typeface="Grandview Display"/>
                <a:ea typeface="+mj-lt"/>
                <a:cs typeface="+mj-lt"/>
              </a:rPr>
              <a:t>Resultat</a:t>
            </a:r>
            <a:endParaRPr lang="en-US" err="1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C488E1-2336-3DD8-3233-A8531A5B0EC2}"/>
              </a:ext>
            </a:extLst>
          </p:cNvPr>
          <p:cNvCxnSpPr/>
          <p:nvPr/>
        </p:nvCxnSpPr>
        <p:spPr>
          <a:xfrm>
            <a:off x="1361087" y="3473423"/>
            <a:ext cx="9881681" cy="14271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1405AFC-5BEB-A3D7-3791-F8E91B544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064" y="1840134"/>
            <a:ext cx="1019729" cy="16907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2EDBF3-2B65-50ED-ABEF-A2348D216FA2}"/>
              </a:ext>
            </a:extLst>
          </p:cNvPr>
          <p:cNvSpPr txBox="1"/>
          <p:nvPr/>
        </p:nvSpPr>
        <p:spPr>
          <a:xfrm>
            <a:off x="2971" y="2943"/>
            <a:ext cx="16600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Jack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35EF03-82B8-B94A-EE95-A9966940CD76}"/>
              </a:ext>
            </a:extLst>
          </p:cNvPr>
          <p:cNvSpPr txBox="1"/>
          <p:nvPr/>
        </p:nvSpPr>
        <p:spPr>
          <a:xfrm>
            <a:off x="3050241" y="3742765"/>
            <a:ext cx="7362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När</a:t>
            </a:r>
            <a:r>
              <a:rPr lang="en-US"/>
              <a:t> learning rate var för </a:t>
            </a:r>
            <a:r>
              <a:rPr lang="en-US" err="1"/>
              <a:t>låg</a:t>
            </a:r>
            <a:r>
              <a:rPr lang="en-US"/>
              <a:t> </a:t>
            </a:r>
            <a:r>
              <a:rPr lang="en-US" err="1"/>
              <a:t>lärde</a:t>
            </a:r>
            <a:r>
              <a:rPr lang="en-US"/>
              <a:t> sig </a:t>
            </a:r>
            <a:r>
              <a:rPr lang="en-US" err="1"/>
              <a:t>modellen</a:t>
            </a:r>
            <a:r>
              <a:rPr lang="en-US"/>
              <a:t> </a:t>
            </a:r>
            <a:r>
              <a:rPr lang="en-US" err="1"/>
              <a:t>långsamt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8768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DABA-1949-F1F8-A0C3-4AE71D32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A3A7-5D31-F49F-30B9-83AB6C1D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SGD – 0.0001</a:t>
            </a:r>
            <a:endParaRPr lang="en-US" err="1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41D351A-30C4-E716-25C7-836D070F57DE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9672050-FC7B-48EC-87C8-8D5737679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10" y="181665"/>
            <a:ext cx="1019729" cy="16907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E906F7-EF6E-65EA-BA1E-E13F1AD00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84" y="1687438"/>
            <a:ext cx="10217855" cy="41287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8332CB-3903-5555-A2D5-A9CCB267D18C}"/>
              </a:ext>
            </a:extLst>
          </p:cNvPr>
          <p:cNvSpPr txBox="1"/>
          <p:nvPr/>
        </p:nvSpPr>
        <p:spPr>
          <a:xfrm>
            <a:off x="-5699" y="5833"/>
            <a:ext cx="26127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i="0" u="none" strike="noStrike" baseline="0">
                <a:solidFill>
                  <a:srgbClr val="968172"/>
                </a:solidFill>
                <a:latin typeface="Sitka Heading"/>
              </a:rPr>
              <a:t>Jack</a:t>
            </a:r>
            <a:r>
              <a:rPr lang="en-US" sz="1800" b="0" i="0">
                <a:solidFill>
                  <a:srgbClr val="000000"/>
                </a:solidFill>
                <a:latin typeface="Sitka Heading"/>
                <a:ea typeface="Sitka Heading"/>
                <a:cs typeface="Sitka Heading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7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C3A8-304A-AEA8-05E4-C9BFE3FD2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26269-0CF0-1721-CD11-733AABCD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SGD – 0.001</a:t>
            </a:r>
            <a:endParaRPr lang="en-US" err="1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AB5309A-1AC2-EFB1-E9BF-8AB29C5B28D9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D5B3AD9-418F-A0DF-5840-4C6E43931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10" y="181665"/>
            <a:ext cx="1019729" cy="1690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8C2205-11F9-E871-10D7-7D846EFCF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62" y="1699311"/>
            <a:ext cx="9964131" cy="41424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15D302-F27D-42EE-E1B1-10D26A5DF6D5}"/>
              </a:ext>
            </a:extLst>
          </p:cNvPr>
          <p:cNvSpPr txBox="1"/>
          <p:nvPr/>
        </p:nvSpPr>
        <p:spPr>
          <a:xfrm>
            <a:off x="-5575" y="-5698"/>
            <a:ext cx="16889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968172"/>
                </a:solidFill>
                <a:latin typeface="Sitka Heading"/>
              </a:rPr>
              <a:t>Jack</a:t>
            </a:r>
            <a:endParaRPr lang="en-US">
              <a:latin typeface="Sitka Heading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1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60A4-6484-DDB1-E818-69517F9F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D7DE-45EE-39D8-7E48-BA6D7371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SGD – 0.01</a:t>
            </a:r>
            <a:endParaRPr lang="en-US" err="1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70508FC-5CF4-4B07-BFAC-678AE7E832B2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2EBA2E4-2752-45FB-9059-274110954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275" y="181665"/>
            <a:ext cx="1019729" cy="1690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0222F1-EA2D-7922-A267-B678E8870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48" y="1689802"/>
            <a:ext cx="10158664" cy="4149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F4017D-EA31-BB00-819B-3FDC02D448FA}"/>
              </a:ext>
            </a:extLst>
          </p:cNvPr>
          <p:cNvSpPr txBox="1"/>
          <p:nvPr/>
        </p:nvSpPr>
        <p:spPr>
          <a:xfrm>
            <a:off x="-2808" y="5848"/>
            <a:ext cx="25117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Jack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72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BB147-653F-C81C-C7A5-221633C6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6470-5D06-E9D7-49F2-DA73D92A5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541" y="2498725"/>
            <a:ext cx="10515600" cy="1325563"/>
          </a:xfrm>
        </p:spPr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RMSprop – </a:t>
            </a:r>
            <a:r>
              <a:rPr lang="en-US" err="1">
                <a:latin typeface="Grandview Display"/>
                <a:ea typeface="+mj-lt"/>
                <a:cs typeface="+mj-lt"/>
              </a:rPr>
              <a:t>Resultat</a:t>
            </a:r>
            <a:endParaRPr lang="en-US" err="1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662BDCF-A52A-1BCB-1AA4-46CE9527100F}"/>
              </a:ext>
            </a:extLst>
          </p:cNvPr>
          <p:cNvCxnSpPr/>
          <p:nvPr/>
        </p:nvCxnSpPr>
        <p:spPr>
          <a:xfrm flipV="1">
            <a:off x="1190758" y="3469765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5448233-C46A-817C-611E-2D408560AEE1}"/>
              </a:ext>
            </a:extLst>
          </p:cNvPr>
          <p:cNvSpPr txBox="1"/>
          <p:nvPr/>
        </p:nvSpPr>
        <p:spPr>
          <a:xfrm>
            <a:off x="1977848" y="3939224"/>
            <a:ext cx="1090612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RMSprop </a:t>
            </a:r>
            <a:r>
              <a:rPr lang="en-US" err="1">
                <a:ea typeface="+mn-lt"/>
                <a:cs typeface="+mn-lt"/>
              </a:rPr>
              <a:t>lär</a:t>
            </a:r>
            <a:r>
              <a:rPr lang="en-US">
                <a:ea typeface="+mn-lt"/>
                <a:cs typeface="+mn-lt"/>
              </a:rPr>
              <a:t> sig </a:t>
            </a:r>
            <a:r>
              <a:rPr lang="en-US" err="1">
                <a:ea typeface="+mn-lt"/>
                <a:cs typeface="+mn-lt"/>
              </a:rPr>
              <a:t>snabbare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än</a:t>
            </a:r>
            <a:r>
              <a:rPr lang="en-US">
                <a:ea typeface="+mn-lt"/>
                <a:cs typeface="+mn-lt"/>
              </a:rPr>
              <a:t> SGD </a:t>
            </a:r>
            <a:r>
              <a:rPr lang="en-US" err="1">
                <a:ea typeface="+mn-lt"/>
                <a:cs typeface="+mn-lt"/>
              </a:rPr>
              <a:t>eftersom</a:t>
            </a:r>
            <a:r>
              <a:rPr lang="en-US">
                <a:ea typeface="+mn-lt"/>
                <a:cs typeface="+mn-lt"/>
              </a:rPr>
              <a:t> den </a:t>
            </a:r>
            <a:r>
              <a:rPr lang="en-US" err="1">
                <a:ea typeface="+mn-lt"/>
                <a:cs typeface="+mn-lt"/>
              </a:rPr>
              <a:t>anpassar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steglängden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automatiskt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55EA16-E321-7BC3-CF7C-615C92B5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517" y="1947761"/>
            <a:ext cx="1446006" cy="14726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05EE8E-B1A6-AF39-4349-E050D32B27DA}"/>
              </a:ext>
            </a:extLst>
          </p:cNvPr>
          <p:cNvSpPr txBox="1"/>
          <p:nvPr/>
        </p:nvSpPr>
        <p:spPr>
          <a:xfrm>
            <a:off x="-20119" y="5847"/>
            <a:ext cx="1717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Jack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84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2A970-F79E-2EFC-3A8D-32469E1E3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BC4E-84A2-88FA-0080-44951C4E1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RMSprop – 0.0001</a:t>
            </a:r>
            <a:endParaRPr lang="en-US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F384357-43EE-DCE2-74E5-DE2F23E701D1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27984B8-860F-F631-5505-F7B2B63E2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693" y="235502"/>
            <a:ext cx="1446006" cy="14726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45C24B-8765-A7C7-C19E-3F47044BE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1691809"/>
            <a:ext cx="9963150" cy="4314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3E2B78-4609-8B99-1ECC-1267C97A7A64}"/>
              </a:ext>
            </a:extLst>
          </p:cNvPr>
          <p:cNvSpPr txBox="1"/>
          <p:nvPr/>
        </p:nvSpPr>
        <p:spPr>
          <a:xfrm>
            <a:off x="-2781" y="69"/>
            <a:ext cx="18765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Jack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49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3EA5-E37A-DB82-DACB-B4AFD954C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8E67-9103-F979-DF27-5301A3B1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RMSprop – 0.001</a:t>
            </a:r>
            <a:endParaRPr lang="en-US" err="1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4CF3F5A-0C9C-4C65-1082-C474068FBA06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56FF4A1-A7FA-7FC8-4E21-1264B44E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693" y="235502"/>
            <a:ext cx="1446006" cy="14726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D56583-2FD0-1262-3D90-A949CE911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1718703"/>
            <a:ext cx="9972675" cy="4286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6F541A-C2DE-1AEF-8C99-6D144EF1B900}"/>
              </a:ext>
            </a:extLst>
          </p:cNvPr>
          <p:cNvSpPr txBox="1"/>
          <p:nvPr/>
        </p:nvSpPr>
        <p:spPr>
          <a:xfrm>
            <a:off x="-2836" y="5874"/>
            <a:ext cx="15301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Jack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41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A8D5-EE49-7C5F-B684-18973AA5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EAE69-50C3-C4CF-2FEA-C6C32819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RMSprop – 0.01</a:t>
            </a:r>
            <a:endParaRPr lang="en-US" err="1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09A421-4AC8-A5B4-6054-651E05F1DFAE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EF4BEDB-8CAC-5BBD-66BD-EFF75F780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693" y="235502"/>
            <a:ext cx="1446006" cy="14726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964127-095C-1EF3-DF4E-6E3D8E4A3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1710298"/>
            <a:ext cx="10058400" cy="4210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0C9CED-5AA4-DF1D-9FC7-E57998E7C89E}"/>
              </a:ext>
            </a:extLst>
          </p:cNvPr>
          <p:cNvSpPr txBox="1"/>
          <p:nvPr/>
        </p:nvSpPr>
        <p:spPr>
          <a:xfrm>
            <a:off x="-2808" y="5819"/>
            <a:ext cx="18332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Jack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84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9780-7676-F513-5B19-4EAC364B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EBB8-D77F-4A05-95A4-D47927C08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341" y="2498725"/>
            <a:ext cx="10515600" cy="1325563"/>
          </a:xfrm>
        </p:spPr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Adam – </a:t>
            </a:r>
            <a:r>
              <a:rPr lang="en-US" err="1">
                <a:latin typeface="Grandview Display"/>
                <a:ea typeface="+mj-lt"/>
                <a:cs typeface="+mj-lt"/>
              </a:rPr>
              <a:t>Resultat</a:t>
            </a:r>
            <a:endParaRPr lang="en-US">
              <a:latin typeface="Grandview Display"/>
              <a:ea typeface="+mj-lt"/>
              <a:cs typeface="+mj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6D508E-A693-06DA-71C5-1912C8DE5AAD}"/>
              </a:ext>
            </a:extLst>
          </p:cNvPr>
          <p:cNvCxnSpPr/>
          <p:nvPr/>
        </p:nvCxnSpPr>
        <p:spPr>
          <a:xfrm flipV="1">
            <a:off x="1190758" y="3469765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8CED4BD-D6F0-7DAC-121A-64AA917ADFE8}"/>
              </a:ext>
            </a:extLst>
          </p:cNvPr>
          <p:cNvSpPr txBox="1"/>
          <p:nvPr/>
        </p:nvSpPr>
        <p:spPr>
          <a:xfrm>
            <a:off x="3288646" y="3829609"/>
            <a:ext cx="110847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Adam </a:t>
            </a:r>
            <a:r>
              <a:rPr lang="en-US" err="1"/>
              <a:t>gav</a:t>
            </a:r>
            <a:r>
              <a:rPr lang="en-US"/>
              <a:t> </a:t>
            </a:r>
            <a:r>
              <a:rPr lang="en-US" err="1"/>
              <a:t>högst</a:t>
            </a:r>
            <a:r>
              <a:rPr lang="en-US"/>
              <a:t> accuracy och </a:t>
            </a:r>
            <a:r>
              <a:rPr lang="en-US" err="1"/>
              <a:t>lägst</a:t>
            </a:r>
            <a:r>
              <a:rPr lang="en-US"/>
              <a:t> validation loss.</a:t>
            </a:r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C6583F-B615-DB38-9A1B-83FF4E25E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212" y="1718747"/>
            <a:ext cx="1142310" cy="1736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E9784C-688B-B444-034A-10B41E2D24CF}"/>
              </a:ext>
            </a:extLst>
          </p:cNvPr>
          <p:cNvSpPr txBox="1"/>
          <p:nvPr/>
        </p:nvSpPr>
        <p:spPr>
          <a:xfrm>
            <a:off x="191" y="-8575"/>
            <a:ext cx="33056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Vera</a:t>
            </a:r>
          </a:p>
        </p:txBody>
      </p:sp>
    </p:spTree>
    <p:extLst>
      <p:ext uri="{BB962C8B-B14F-4D97-AF65-F5344CB8AC3E}">
        <p14:creationId xmlns:p14="http://schemas.microsoft.com/office/powerpoint/2010/main" val="2424111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5C1DE-6F90-D6D1-3FFF-81A9D172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3256-ABB2-0F3B-D2C0-812FC22A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Adam – 0.0001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FB62E00-2142-C9A9-32C6-C190C4B40CBD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6C3A9B-A1BF-9EB5-0A27-A59DC31C2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671" y="158888"/>
            <a:ext cx="1142310" cy="1736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3B155C-62BD-4BC7-6E2D-1374ACD09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1709738"/>
            <a:ext cx="10020300" cy="4229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6F5BAB-97FB-1F57-7ED3-6B476AD1B8A3}"/>
              </a:ext>
            </a:extLst>
          </p:cNvPr>
          <p:cNvSpPr txBox="1"/>
          <p:nvPr/>
        </p:nvSpPr>
        <p:spPr>
          <a:xfrm>
            <a:off x="2917" y="-2849"/>
            <a:ext cx="2020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Vera</a:t>
            </a:r>
          </a:p>
        </p:txBody>
      </p:sp>
    </p:spTree>
    <p:extLst>
      <p:ext uri="{BB962C8B-B14F-4D97-AF65-F5344CB8AC3E}">
        <p14:creationId xmlns:p14="http://schemas.microsoft.com/office/powerpoint/2010/main" val="3583137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08C0-3EB2-1286-2E7F-B2BBEE71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8F4D-D5F3-2F7F-F75B-7DC8AC31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Adam – 0.001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29B9F73-F923-7A93-7848-EB7FFB5F7069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B997ED3-C7EB-6EDC-936A-FFFE540BE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671" y="158888"/>
            <a:ext cx="1142310" cy="1736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5581C-2EB6-BD65-711C-428CA9724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1709738"/>
            <a:ext cx="10010775" cy="4238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E9DA41-FFC6-FB64-B52C-A128DE529761}"/>
              </a:ext>
            </a:extLst>
          </p:cNvPr>
          <p:cNvSpPr txBox="1"/>
          <p:nvPr/>
        </p:nvSpPr>
        <p:spPr>
          <a:xfrm>
            <a:off x="-5698" y="5847"/>
            <a:ext cx="1429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Vera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50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C18F2-A9FE-7136-B07C-57F13B27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A540-468A-7720-EAC7-4A26124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Adam – 0.01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BECE21E-534B-A611-36DD-0650D0F338AE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06F11F3-819B-C60C-840C-6E4B09CDE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671" y="158888"/>
            <a:ext cx="1142310" cy="1736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6C5C46-A5F9-42EA-DC11-DA73A8A4562A}"/>
              </a:ext>
            </a:extLst>
          </p:cNvPr>
          <p:cNvSpPr txBox="1"/>
          <p:nvPr/>
        </p:nvSpPr>
        <p:spPr>
          <a:xfrm>
            <a:off x="-5698" y="5847"/>
            <a:ext cx="1429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Vera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59251-5110-2995-C360-EFBD6A955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71" y="1690128"/>
            <a:ext cx="10025344" cy="420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71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FE1C-00A8-036D-2BE8-6F0D4935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Grandview Display"/>
                <a:ea typeface="+mj-lt"/>
                <a:cs typeface="+mj-lt"/>
              </a:rPr>
              <a:t>Jämförelse</a:t>
            </a:r>
            <a:r>
              <a:rPr lang="en-US">
                <a:latin typeface="Grandview Display"/>
                <a:ea typeface="+mj-lt"/>
                <a:cs typeface="+mj-lt"/>
              </a:rPr>
              <a:t> </a:t>
            </a:r>
            <a:r>
              <a:rPr lang="en-US" err="1">
                <a:latin typeface="Grandview Display"/>
                <a:ea typeface="+mj-lt"/>
                <a:cs typeface="+mj-lt"/>
              </a:rPr>
              <a:t>mellan</a:t>
            </a:r>
            <a:r>
              <a:rPr lang="en-US">
                <a:latin typeface="Grandview Display"/>
                <a:ea typeface="+mj-lt"/>
                <a:cs typeface="+mj-lt"/>
              </a:rPr>
              <a:t> </a:t>
            </a:r>
            <a:r>
              <a:rPr lang="en-US" err="1">
                <a:latin typeface="Grandview Display"/>
                <a:ea typeface="+mj-lt"/>
                <a:cs typeface="+mj-lt"/>
              </a:rPr>
              <a:t>optimerare</a:t>
            </a:r>
            <a:endParaRPr lang="en-US" err="1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6477A75-0590-1ADE-A6C3-8E350A11A7E2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5FF43DB-55AC-7021-600D-0518ECFDBA71}"/>
              </a:ext>
            </a:extLst>
          </p:cNvPr>
          <p:cNvSpPr txBox="1"/>
          <p:nvPr/>
        </p:nvSpPr>
        <p:spPr>
          <a:xfrm>
            <a:off x="1385887" y="4079722"/>
            <a:ext cx="897731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Adam </a:t>
            </a:r>
            <a:r>
              <a:rPr lang="en-US" err="1">
                <a:ea typeface="+mn-lt"/>
                <a:cs typeface="+mn-lt"/>
              </a:rPr>
              <a:t>gav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högst</a:t>
            </a:r>
            <a:r>
              <a:rPr lang="en-US">
                <a:ea typeface="+mn-lt"/>
                <a:cs typeface="+mn-lt"/>
              </a:rPr>
              <a:t> accuracy och </a:t>
            </a:r>
            <a:r>
              <a:rPr lang="en-US" err="1">
                <a:ea typeface="+mn-lt"/>
                <a:cs typeface="+mn-lt"/>
              </a:rPr>
              <a:t>lägst</a:t>
            </a:r>
            <a:r>
              <a:rPr lang="en-US">
                <a:ea typeface="+mn-lt"/>
                <a:cs typeface="+mn-lt"/>
              </a:rPr>
              <a:t> validation loss.</a:t>
            </a:r>
          </a:p>
          <a:p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RMSprop var </a:t>
            </a:r>
            <a:r>
              <a:rPr lang="en-US" err="1">
                <a:ea typeface="+mn-lt"/>
                <a:cs typeface="+mn-lt"/>
              </a:rPr>
              <a:t>nästan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lika</a:t>
            </a:r>
            <a:r>
              <a:rPr lang="en-US">
                <a:ea typeface="+mn-lt"/>
                <a:cs typeface="+mn-lt"/>
              </a:rPr>
              <a:t> bra, men </a:t>
            </a:r>
            <a:r>
              <a:rPr lang="en-US" err="1">
                <a:ea typeface="+mn-lt"/>
                <a:cs typeface="+mn-lt"/>
              </a:rPr>
              <a:t>något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stabilare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SGD </a:t>
            </a:r>
            <a:r>
              <a:rPr lang="en-US" err="1">
                <a:ea typeface="+mn-lt"/>
                <a:cs typeface="+mn-lt"/>
              </a:rPr>
              <a:t>fungerade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sämre</a:t>
            </a:r>
            <a:r>
              <a:rPr lang="en-US">
                <a:ea typeface="+mn-lt"/>
                <a:cs typeface="+mn-lt"/>
              </a:rPr>
              <a:t> vid </a:t>
            </a:r>
            <a:r>
              <a:rPr lang="en-US" err="1">
                <a:ea typeface="+mn-lt"/>
                <a:cs typeface="+mn-lt"/>
              </a:rPr>
              <a:t>låg</a:t>
            </a:r>
            <a:r>
              <a:rPr lang="en-US">
                <a:ea typeface="+mn-lt"/>
                <a:cs typeface="+mn-lt"/>
              </a:rPr>
              <a:t> learning rate och </a:t>
            </a:r>
            <a:r>
              <a:rPr lang="en-US" err="1">
                <a:ea typeface="+mn-lt"/>
                <a:cs typeface="+mn-lt"/>
              </a:rPr>
              <a:t>behövde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fler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epoker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A44EBFD-185E-70EE-7EC6-F24DADA09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862401"/>
              </p:ext>
            </p:extLst>
          </p:nvPr>
        </p:nvGraphicFramePr>
        <p:xfrm>
          <a:off x="1533773" y="1954276"/>
          <a:ext cx="9121180" cy="14833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80295">
                  <a:extLst>
                    <a:ext uri="{9D8B030D-6E8A-4147-A177-3AD203B41FA5}">
                      <a16:colId xmlns:a16="http://schemas.microsoft.com/office/drawing/2014/main" val="1307241064"/>
                    </a:ext>
                  </a:extLst>
                </a:gridCol>
                <a:gridCol w="2280295">
                  <a:extLst>
                    <a:ext uri="{9D8B030D-6E8A-4147-A177-3AD203B41FA5}">
                      <a16:colId xmlns:a16="http://schemas.microsoft.com/office/drawing/2014/main" val="3831531592"/>
                    </a:ext>
                  </a:extLst>
                </a:gridCol>
                <a:gridCol w="2280295">
                  <a:extLst>
                    <a:ext uri="{9D8B030D-6E8A-4147-A177-3AD203B41FA5}">
                      <a16:colId xmlns:a16="http://schemas.microsoft.com/office/drawing/2014/main" val="3078271934"/>
                    </a:ext>
                  </a:extLst>
                </a:gridCol>
                <a:gridCol w="2280295">
                  <a:extLst>
                    <a:ext uri="{9D8B030D-6E8A-4147-A177-3AD203B41FA5}">
                      <a16:colId xmlns:a16="http://schemas.microsoft.com/office/drawing/2014/main" val="4111999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Bästa</a:t>
                      </a:r>
                      <a:r>
                        <a:rPr lang="en-US"/>
                        <a:t>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Validation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05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Långsammare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144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RMSprop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Stabil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65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Bäst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resultat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499285"/>
                  </a:ext>
                </a:extLst>
              </a:tr>
            </a:tbl>
          </a:graphicData>
        </a:graphic>
      </p:graphicFrame>
      <p:sp>
        <p:nvSpPr>
          <p:cNvPr id="11" name="Star: 4 Points 10">
            <a:extLst>
              <a:ext uri="{FF2B5EF4-FFF2-40B4-BE49-F238E27FC236}">
                <a16:creationId xmlns:a16="http://schemas.microsoft.com/office/drawing/2014/main" id="{62225386-4F57-7A7E-102F-E6EEFA43B793}"/>
              </a:ext>
            </a:extLst>
          </p:cNvPr>
          <p:cNvSpPr/>
          <p:nvPr/>
        </p:nvSpPr>
        <p:spPr>
          <a:xfrm>
            <a:off x="10653469" y="3149668"/>
            <a:ext cx="273843" cy="273843"/>
          </a:xfrm>
          <a:prstGeom prst="star4">
            <a:avLst/>
          </a:prstGeom>
          <a:solidFill>
            <a:srgbClr val="ED7D31"/>
          </a:solidFill>
          <a:ln>
            <a:solidFill>
              <a:srgbClr val="E0D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4 Points 11">
            <a:extLst>
              <a:ext uri="{FF2B5EF4-FFF2-40B4-BE49-F238E27FC236}">
                <a16:creationId xmlns:a16="http://schemas.microsoft.com/office/drawing/2014/main" id="{A5359451-AEC9-041F-3904-7F58054F4D95}"/>
              </a:ext>
            </a:extLst>
          </p:cNvPr>
          <p:cNvSpPr/>
          <p:nvPr/>
        </p:nvSpPr>
        <p:spPr>
          <a:xfrm>
            <a:off x="1252295" y="3149668"/>
            <a:ext cx="273843" cy="273843"/>
          </a:xfrm>
          <a:prstGeom prst="star4">
            <a:avLst/>
          </a:prstGeom>
          <a:solidFill>
            <a:srgbClr val="ED7D31"/>
          </a:solidFill>
          <a:ln>
            <a:solidFill>
              <a:srgbClr val="E0D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9BB522-0835-A7E5-B167-0D4AD5B45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825" y="4625496"/>
            <a:ext cx="3854175" cy="2234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88C0AF-84BB-E498-E559-4B8E14F83F0F}"/>
              </a:ext>
            </a:extLst>
          </p:cNvPr>
          <p:cNvSpPr txBox="1"/>
          <p:nvPr/>
        </p:nvSpPr>
        <p:spPr>
          <a:xfrm>
            <a:off x="3012" y="3254"/>
            <a:ext cx="1501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968172"/>
                </a:solidFill>
                <a:latin typeface="Sitka Heading"/>
              </a:rPr>
              <a:t>Vera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73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FDDD-177D-4DCE-2810-0DB52D21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ndview Display"/>
                <a:ea typeface="+mj-lt"/>
                <a:cs typeface="+mj-lt"/>
              </a:rPr>
              <a:t>Vad </a:t>
            </a:r>
            <a:r>
              <a:rPr lang="en-US" err="1">
                <a:latin typeface="Grandview Display"/>
                <a:ea typeface="+mj-lt"/>
                <a:cs typeface="+mj-lt"/>
              </a:rPr>
              <a:t>har</a:t>
            </a:r>
            <a:r>
              <a:rPr lang="en-US">
                <a:latin typeface="Grandview Display"/>
                <a:ea typeface="+mj-lt"/>
                <a:cs typeface="+mj-lt"/>
              </a:rPr>
              <a:t> vi </a:t>
            </a:r>
            <a:r>
              <a:rPr lang="en-US" err="1">
                <a:latin typeface="Grandview Display"/>
                <a:ea typeface="+mj-lt"/>
                <a:cs typeface="+mj-lt"/>
              </a:rPr>
              <a:t>lärt</a:t>
            </a:r>
            <a:r>
              <a:rPr lang="en-US">
                <a:latin typeface="Grandview Display"/>
                <a:ea typeface="+mj-lt"/>
                <a:cs typeface="+mj-lt"/>
              </a:rPr>
              <a:t> </a:t>
            </a:r>
            <a:r>
              <a:rPr lang="en-US" err="1">
                <a:latin typeface="Grandview Display"/>
                <a:ea typeface="+mj-lt"/>
                <a:cs typeface="+mj-lt"/>
              </a:rPr>
              <a:t>oss</a:t>
            </a:r>
            <a:r>
              <a:rPr lang="en-US">
                <a:latin typeface="Grandview Display"/>
                <a:ea typeface="+mj-lt"/>
                <a:cs typeface="+mj-lt"/>
              </a:rPr>
              <a:t>?</a:t>
            </a:r>
            <a:endParaRPr lang="en-US">
              <a:latin typeface="Grandview Display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0224626-B80E-91E7-303D-EF6F99B4DA64}"/>
              </a:ext>
            </a:extLst>
          </p:cNvPr>
          <p:cNvCxnSpPr/>
          <p:nvPr/>
        </p:nvCxnSpPr>
        <p:spPr>
          <a:xfrm flipV="1">
            <a:off x="670805" y="1398918"/>
            <a:ext cx="9809964" cy="21588"/>
          </a:xfrm>
          <a:prstGeom prst="straightConnector1">
            <a:avLst/>
          </a:prstGeom>
          <a:ln>
            <a:solidFill>
              <a:srgbClr val="E0D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9C4173-624A-FEBC-E0FF-B0A4672AFF2C}"/>
              </a:ext>
            </a:extLst>
          </p:cNvPr>
          <p:cNvSpPr txBox="1"/>
          <p:nvPr/>
        </p:nvSpPr>
        <p:spPr>
          <a:xfrm>
            <a:off x="535781" y="2381249"/>
            <a:ext cx="1065609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err="1"/>
              <a:t>Optimerare</a:t>
            </a:r>
            <a:r>
              <a:rPr lang="en-US"/>
              <a:t> och learning rate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stor</a:t>
            </a:r>
            <a:r>
              <a:rPr lang="en-US"/>
              <a:t> </a:t>
            </a:r>
            <a:r>
              <a:rPr lang="en-US" err="1"/>
              <a:t>påverkan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modellen</a:t>
            </a:r>
            <a:endParaRPr lang="en-US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err="1"/>
              <a:t>Lägre</a:t>
            </a:r>
            <a:r>
              <a:rPr lang="en-US"/>
              <a:t> </a:t>
            </a:r>
            <a:r>
              <a:rPr lang="en-US" err="1"/>
              <a:t>inlärningshastighet</a:t>
            </a:r>
            <a:r>
              <a:rPr lang="en-US"/>
              <a:t> </a:t>
            </a:r>
            <a:r>
              <a:rPr lang="en-US" err="1"/>
              <a:t>håller</a:t>
            </a:r>
            <a:r>
              <a:rPr lang="en-US"/>
              <a:t> overfitting </a:t>
            </a:r>
            <a:r>
              <a:rPr lang="en-US" err="1"/>
              <a:t>borta</a:t>
            </a:r>
            <a:r>
              <a:rPr lang="en-US"/>
              <a:t>, men </a:t>
            </a:r>
            <a:r>
              <a:rPr lang="en-US" err="1"/>
              <a:t>också</a:t>
            </a:r>
            <a:r>
              <a:rPr lang="en-US"/>
              <a:t> </a:t>
            </a:r>
            <a:r>
              <a:rPr lang="en-US" err="1"/>
              <a:t>resultatet</a:t>
            </a:r>
            <a:endParaRPr lang="en-US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err="1"/>
              <a:t>Högre</a:t>
            </a:r>
            <a:r>
              <a:rPr lang="en-US"/>
              <a:t> </a:t>
            </a:r>
            <a:r>
              <a:rPr lang="en-US" err="1"/>
              <a:t>inlärningshastighet</a:t>
            </a:r>
            <a:r>
              <a:rPr lang="en-US"/>
              <a:t> ger </a:t>
            </a:r>
            <a:r>
              <a:rPr lang="en-US" err="1"/>
              <a:t>snabbt</a:t>
            </a:r>
            <a:r>
              <a:rPr lang="en-US"/>
              <a:t> </a:t>
            </a:r>
            <a:r>
              <a:rPr lang="en-US" err="1"/>
              <a:t>resultat</a:t>
            </a:r>
            <a:r>
              <a:rPr lang="en-US"/>
              <a:t>, men </a:t>
            </a:r>
            <a:r>
              <a:rPr lang="en-US" err="1"/>
              <a:t>orsakar</a:t>
            </a:r>
            <a:r>
              <a:rPr lang="en-US"/>
              <a:t> overfitting </a:t>
            </a:r>
            <a:r>
              <a:rPr lang="en-US" err="1"/>
              <a:t>lika</a:t>
            </a:r>
            <a:r>
              <a:rPr lang="en-US"/>
              <a:t> </a:t>
            </a:r>
            <a:r>
              <a:rPr lang="en-US" err="1"/>
              <a:t>snabbt</a:t>
            </a:r>
            <a:endParaRPr lang="en-US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err="1"/>
              <a:t>Även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bra coach </a:t>
            </a:r>
            <a:r>
              <a:rPr lang="en-US" err="1"/>
              <a:t>behöver</a:t>
            </a:r>
            <a:r>
              <a:rPr lang="en-US"/>
              <a:t> bra </a:t>
            </a:r>
            <a:r>
              <a:rPr lang="en-US" err="1"/>
              <a:t>grundförutsättningar</a:t>
            </a:r>
            <a:endParaRPr lang="en-US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err="1"/>
              <a:t>Vårt</a:t>
            </a:r>
            <a:r>
              <a:rPr lang="en-US"/>
              <a:t> tips till er: </a:t>
            </a:r>
            <a:r>
              <a:rPr lang="en-US" err="1"/>
              <a:t>dynamisk</a:t>
            </a:r>
            <a:r>
              <a:rPr lang="en-US"/>
              <a:t> learning rate</a:t>
            </a:r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83057C-303F-4EE2-831A-6C9A7ABDB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598" y="4279692"/>
            <a:ext cx="4069936" cy="23294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D10244-07A3-6F08-4E34-ED85A452312F}"/>
              </a:ext>
            </a:extLst>
          </p:cNvPr>
          <p:cNvSpPr txBox="1"/>
          <p:nvPr/>
        </p:nvSpPr>
        <p:spPr>
          <a:xfrm>
            <a:off x="458" y="-3036"/>
            <a:ext cx="12125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i="0" u="none" strike="noStrike" baseline="0">
                <a:solidFill>
                  <a:srgbClr val="968172"/>
                </a:solidFill>
                <a:latin typeface="Sitka Heading"/>
              </a:rPr>
              <a:t>Josefin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5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574</Words>
  <Application>Microsoft Office PowerPoint</Application>
  <PresentationFormat>Bredbild</PresentationFormat>
  <Paragraphs>153</Paragraphs>
  <Slides>23</Slides>
  <Notes>10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7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Grandview Display</vt:lpstr>
      <vt:lpstr>Miriam Fixed</vt:lpstr>
      <vt:lpstr>Sitka Heading</vt:lpstr>
      <vt:lpstr>Office-tema</vt:lpstr>
      <vt:lpstr>Deep Learning</vt:lpstr>
      <vt:lpstr>Data - Optimering och Träningsprocess</vt:lpstr>
      <vt:lpstr>Learning Rate – Modellens steglängd</vt:lpstr>
      <vt:lpstr>PowerPoint-presentation</vt:lpstr>
      <vt:lpstr>PowerPoint-presentation</vt:lpstr>
      <vt:lpstr>PowerPoint-presentation</vt:lpstr>
      <vt:lpstr>Optimerare – Modellens coach</vt:lpstr>
      <vt:lpstr>Våra experiment</vt:lpstr>
      <vt:lpstr>Vad visar kurvorna?</vt:lpstr>
      <vt:lpstr>      SGD – Resultat</vt:lpstr>
      <vt:lpstr>SGD – 0.0001</vt:lpstr>
      <vt:lpstr>SGD – 0.001</vt:lpstr>
      <vt:lpstr>SGD – 0.01</vt:lpstr>
      <vt:lpstr>RMSprop – Resultat</vt:lpstr>
      <vt:lpstr>RMSprop – 0.0001</vt:lpstr>
      <vt:lpstr>RMSprop – 0.001</vt:lpstr>
      <vt:lpstr>RMSprop – 0.01</vt:lpstr>
      <vt:lpstr>Adam – Resultat</vt:lpstr>
      <vt:lpstr>Adam – 0.0001</vt:lpstr>
      <vt:lpstr>Adam – 0.001</vt:lpstr>
      <vt:lpstr>Adam – 0.01</vt:lpstr>
      <vt:lpstr>Jämförelse mellan optimerare</vt:lpstr>
      <vt:lpstr>Vad har vi lärt oss?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 Hysén</dc:creator>
  <cp:lastModifiedBy>Shara Hysén</cp:lastModifiedBy>
  <cp:revision>8</cp:revision>
  <dcterms:created xsi:type="dcterms:W3CDTF">2026-05-06T14:21:47Z</dcterms:created>
  <dcterms:modified xsi:type="dcterms:W3CDTF">2026-05-26T13:04:59Z</dcterms:modified>
</cp:coreProperties>
</file>